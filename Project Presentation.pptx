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oboto"/>
      <p:regular r:id="rId42"/>
      <p:bold r:id="rId43"/>
      <p:italic r:id="rId44"/>
      <p:boldItalic r:id="rId45"/>
    </p:embeddedFont>
    <p:embeddedFont>
      <p:font typeface="Oswald Light"/>
      <p:regular r:id="rId46"/>
      <p:bold r:id="rId47"/>
    </p:embeddedFont>
    <p:embeddedFont>
      <p:font typeface="Average"/>
      <p:regular r:id="rId48"/>
    </p:embeddedFont>
    <p:embeddedFont>
      <p:font typeface="Oswald"/>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regular.fntdata"/><Relationship Id="rId41" Type="http://schemas.openxmlformats.org/officeDocument/2006/relationships/slide" Target="slides/slide36.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OswaldLight-regular.fntdata"/><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Average-regular.fntdata"/><Relationship Id="rId47" Type="http://schemas.openxmlformats.org/officeDocument/2006/relationships/font" Target="fonts/OswaldLight-bold.fntdata"/><Relationship Id="rId49"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Oswa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4895c7e0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4895c7e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49b7a1916_0_1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49b7a1916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4895c7e08_0_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4895c7e0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4e19cd69e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4e19cd69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4e19cd69e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4e19cd69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4e19cd69e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4e19cd69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4e19cd69e_0_5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4e19cd69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529aedcc2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529aedcc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53e104630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53e1046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529aedcc2_0_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529aedcc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54c1e2af9_0_8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b54c1e2af9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54c1e2af9_0_8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b54c1e2af9_0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54c1e2af9_0_8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54c1e2af9_0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54c1e2af9_0_8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b54c1e2af9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54c1e2af9_0_8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b54c1e2af9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54c1e2af9_0_8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54c1e2af9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54c1e2af9_0_8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b54c1e2af9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b54c1e2af9_0_8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b54c1e2af9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4895c7e08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4895c7e0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4c64d6771_0_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b4c64d677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4c64d6771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b4c64d677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4c64d6771_0_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b4c64d677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4c64d6771_0_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b4c64d677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b4c64d6771_0_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b4c64d677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4895c7e08_0_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b4895c7e0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49b7a1916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b49b7a19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49b7a1916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b49b7a191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49b7a1916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b49b7a191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49b7a1916_0_7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b49b7a191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b49b7a1916_0_8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b49b7a191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b49b7a1916_0_10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b49b7a191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b49b7a1916_0_1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b49b7a191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c6f980f91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c6f980f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4895c7e08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4895c7e0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quickstats.nass.usda.gov/"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8.png"/><Relationship Id="rId6"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4.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drive.google.com/drive/folders/14opbXQSNt2gSp1VnINGGDst0xBlCSSP6?usp=drive_li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nvSpPr>
        <p:spPr>
          <a:xfrm>
            <a:off x="639600" y="1082850"/>
            <a:ext cx="78648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800">
                <a:solidFill>
                  <a:schemeClr val="dk1"/>
                </a:solidFill>
                <a:latin typeface="Oswald"/>
                <a:ea typeface="Oswald"/>
                <a:cs typeface="Oswald"/>
                <a:sym typeface="Oswald"/>
              </a:rPr>
              <a:t>US Corn Price Analysis</a:t>
            </a:r>
            <a:endParaRPr sz="4800">
              <a:solidFill>
                <a:schemeClr val="dk1"/>
              </a:solidFill>
              <a:latin typeface="Oswald"/>
              <a:ea typeface="Oswald"/>
              <a:cs typeface="Oswald"/>
              <a:sym typeface="Oswald"/>
            </a:endParaRPr>
          </a:p>
        </p:txBody>
      </p:sp>
      <p:cxnSp>
        <p:nvCxnSpPr>
          <p:cNvPr id="60" name="Google Shape;60;p13"/>
          <p:cNvCxnSpPr/>
          <p:nvPr/>
        </p:nvCxnSpPr>
        <p:spPr>
          <a:xfrm>
            <a:off x="995700" y="2301050"/>
            <a:ext cx="7152600" cy="0"/>
          </a:xfrm>
          <a:prstGeom prst="straightConnector1">
            <a:avLst/>
          </a:prstGeom>
          <a:noFill/>
          <a:ln cap="flat" cmpd="sng" w="9525">
            <a:solidFill>
              <a:schemeClr val="dk2"/>
            </a:solidFill>
            <a:prstDash val="solid"/>
            <a:round/>
            <a:headEnd len="med" w="med" type="none"/>
            <a:tailEnd len="med" w="med" type="none"/>
          </a:ln>
        </p:spPr>
      </p:cxnSp>
      <p:sp>
        <p:nvSpPr>
          <p:cNvPr id="61" name="Google Shape;61;p13"/>
          <p:cNvSpPr txBox="1"/>
          <p:nvPr/>
        </p:nvSpPr>
        <p:spPr>
          <a:xfrm>
            <a:off x="1822200" y="2595850"/>
            <a:ext cx="5499600" cy="180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2300">
                <a:solidFill>
                  <a:schemeClr val="accent3"/>
                </a:solidFill>
                <a:latin typeface="Oswald"/>
                <a:ea typeface="Oswald"/>
                <a:cs typeface="Oswald"/>
                <a:sym typeface="Oswald"/>
              </a:rPr>
              <a:t>Data Management Report</a:t>
            </a:r>
            <a:endParaRPr sz="2300">
              <a:solidFill>
                <a:schemeClr val="accent3"/>
              </a:solidFill>
              <a:latin typeface="Oswald"/>
              <a:ea typeface="Oswald"/>
              <a:cs typeface="Oswald"/>
              <a:sym typeface="Oswald"/>
            </a:endParaRPr>
          </a:p>
          <a:p>
            <a:pPr indent="0" lvl="0" marL="0" rtl="0" algn="ctr">
              <a:spcBef>
                <a:spcPts val="0"/>
              </a:spcBef>
              <a:spcAft>
                <a:spcPts val="0"/>
              </a:spcAft>
              <a:buNone/>
            </a:pPr>
            <a:r>
              <a:t/>
            </a:r>
            <a:endParaRPr sz="2300">
              <a:solidFill>
                <a:schemeClr val="accent3"/>
              </a:solidFill>
              <a:latin typeface="Oswald"/>
              <a:ea typeface="Oswald"/>
              <a:cs typeface="Oswald"/>
              <a:sym typeface="Oswald"/>
            </a:endParaRPr>
          </a:p>
          <a:p>
            <a:pPr indent="0" lvl="0" marL="0" rtl="0" algn="ctr">
              <a:spcBef>
                <a:spcPts val="0"/>
              </a:spcBef>
              <a:spcAft>
                <a:spcPts val="0"/>
              </a:spcAft>
              <a:buNone/>
            </a:pPr>
            <a:r>
              <a:t/>
            </a:r>
            <a:endParaRPr sz="2300">
              <a:solidFill>
                <a:schemeClr val="accent3"/>
              </a:solidFill>
              <a:latin typeface="Oswald"/>
              <a:ea typeface="Oswald"/>
              <a:cs typeface="Oswald"/>
              <a:sym typeface="Oswald"/>
            </a:endParaRPr>
          </a:p>
          <a:p>
            <a:pPr indent="0" lvl="0" marL="0" rtl="0" algn="ctr">
              <a:lnSpc>
                <a:spcPct val="115000"/>
              </a:lnSpc>
              <a:spcBef>
                <a:spcPts val="0"/>
              </a:spcBef>
              <a:spcAft>
                <a:spcPts val="0"/>
              </a:spcAft>
              <a:buNone/>
            </a:pPr>
            <a:r>
              <a:rPr lang="it" sz="1700">
                <a:solidFill>
                  <a:schemeClr val="accent3"/>
                </a:solidFill>
                <a:latin typeface="Oswald"/>
                <a:ea typeface="Oswald"/>
                <a:cs typeface="Oswald"/>
                <a:sym typeface="Oswald"/>
              </a:rPr>
              <a:t>Takudzwa Rioga (946902), Emmanuele Pucci (</a:t>
            </a:r>
            <a:r>
              <a:rPr lang="it" sz="1700">
                <a:solidFill>
                  <a:schemeClr val="accent3"/>
                </a:solidFill>
                <a:latin typeface="Oswald"/>
                <a:ea typeface="Oswald"/>
                <a:cs typeface="Oswald"/>
                <a:sym typeface="Oswald"/>
              </a:rPr>
              <a:t>939157</a:t>
            </a:r>
            <a:r>
              <a:rPr lang="it" sz="1700">
                <a:solidFill>
                  <a:schemeClr val="accent3"/>
                </a:solidFill>
                <a:latin typeface="Oswald"/>
                <a:ea typeface="Oswald"/>
                <a:cs typeface="Oswald"/>
                <a:sym typeface="Oswald"/>
              </a:rPr>
              <a:t>)</a:t>
            </a:r>
            <a:endParaRPr sz="1700">
              <a:solidFill>
                <a:schemeClr val="accent3"/>
              </a:solidFill>
              <a:latin typeface="Oswald"/>
              <a:ea typeface="Oswald"/>
              <a:cs typeface="Oswald"/>
              <a:sym typeface="Oswald"/>
            </a:endParaRPr>
          </a:p>
          <a:p>
            <a:pPr indent="0" lvl="0" marL="0" rtl="0" algn="ctr">
              <a:lnSpc>
                <a:spcPct val="115000"/>
              </a:lnSpc>
              <a:spcBef>
                <a:spcPts val="0"/>
              </a:spcBef>
              <a:spcAft>
                <a:spcPts val="0"/>
              </a:spcAft>
              <a:buNone/>
            </a:pPr>
            <a:r>
              <a:rPr lang="it" sz="1700">
                <a:solidFill>
                  <a:schemeClr val="accent3"/>
                </a:solidFill>
                <a:latin typeface="Oswald"/>
                <a:ea typeface="Oswald"/>
                <a:cs typeface="Oswald"/>
                <a:sym typeface="Oswald"/>
              </a:rPr>
              <a:t>Pouya Sotoudeh (946920), Federica</a:t>
            </a:r>
            <a:r>
              <a:rPr lang="it" sz="1700">
                <a:solidFill>
                  <a:schemeClr val="accent3"/>
                </a:solidFill>
                <a:latin typeface="Oswald"/>
                <a:ea typeface="Oswald"/>
                <a:cs typeface="Oswald"/>
                <a:sym typeface="Oswald"/>
              </a:rPr>
              <a:t> Brasca (907082)</a:t>
            </a:r>
            <a:endParaRPr sz="1700">
              <a:solidFill>
                <a:schemeClr val="accent3"/>
              </a:solidFill>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Project Goal &amp; Research Questions</a:t>
            </a:r>
            <a:endParaRPr/>
          </a:p>
        </p:txBody>
      </p:sp>
      <p:sp>
        <p:nvSpPr>
          <p:cNvPr id="67" name="Google Shape;67;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A</a:t>
            </a:r>
            <a:r>
              <a:rPr lang="it" sz="1700"/>
              <a:t>nalyze the drivers of US Corn prices by integrating several data sources (</a:t>
            </a:r>
            <a:r>
              <a:rPr lang="it" sz="1700"/>
              <a:t>1973 - 2024</a:t>
            </a:r>
            <a:r>
              <a:rPr lang="it" sz="1700"/>
              <a:t>):</a:t>
            </a:r>
            <a:endParaRPr sz="1700"/>
          </a:p>
          <a:p>
            <a:pPr indent="-336550" lvl="0" marL="457200" rtl="0" algn="l">
              <a:spcBef>
                <a:spcPts val="1600"/>
              </a:spcBef>
              <a:spcAft>
                <a:spcPts val="0"/>
              </a:spcAft>
              <a:buSzPts val="1700"/>
              <a:buChar char="●"/>
            </a:pPr>
            <a:r>
              <a:rPr lang="it" sz="1700"/>
              <a:t>November market price data (End of Season Price)</a:t>
            </a:r>
            <a:endParaRPr sz="1700"/>
          </a:p>
          <a:p>
            <a:pPr indent="-336550" lvl="0" marL="457200" rtl="0" algn="l">
              <a:spcBef>
                <a:spcPts val="0"/>
              </a:spcBef>
              <a:spcAft>
                <a:spcPts val="0"/>
              </a:spcAft>
              <a:buSzPts val="1700"/>
              <a:buChar char="●"/>
            </a:pPr>
            <a:r>
              <a:rPr lang="it" sz="1700"/>
              <a:t>Crop and weather conditions</a:t>
            </a:r>
            <a:endParaRPr sz="1700"/>
          </a:p>
          <a:p>
            <a:pPr indent="-336550" lvl="0" marL="457200" rtl="0" algn="l">
              <a:spcBef>
                <a:spcPts val="0"/>
              </a:spcBef>
              <a:spcAft>
                <a:spcPts val="0"/>
              </a:spcAft>
              <a:buSzPts val="1700"/>
              <a:buChar char="●"/>
            </a:pPr>
            <a:r>
              <a:rPr lang="it" sz="1700"/>
              <a:t>Supply and demand estimates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it"/>
              <a:t>Research Questions:</a:t>
            </a:r>
            <a:endParaRPr b="1"/>
          </a:p>
          <a:p>
            <a:pPr indent="-336550" lvl="0" marL="457200" rtl="0" algn="l">
              <a:spcBef>
                <a:spcPts val="0"/>
              </a:spcBef>
              <a:spcAft>
                <a:spcPts val="0"/>
              </a:spcAft>
              <a:buSzPts val="1700"/>
              <a:buChar char="●"/>
            </a:pPr>
            <a:r>
              <a:rPr lang="it" sz="1700"/>
              <a:t>What are the primary drivers of US corn prices, and has the market structure changed over time?</a:t>
            </a:r>
            <a:endParaRPr sz="1700"/>
          </a:p>
          <a:p>
            <a:pPr indent="-336550" lvl="0" marL="457200" rtl="0" algn="l">
              <a:spcBef>
                <a:spcPts val="0"/>
              </a:spcBef>
              <a:spcAft>
                <a:spcPts val="0"/>
              </a:spcAft>
              <a:buSzPts val="1700"/>
              <a:buChar char="●"/>
            </a:pPr>
            <a:r>
              <a:rPr lang="it" sz="1700"/>
              <a:t>How does the long-term stability of production trends contrast with structural regime shifts in market pricing?</a:t>
            </a:r>
            <a:endParaRPr sz="1700"/>
          </a:p>
          <a:p>
            <a:pPr indent="0" lvl="0" marL="0" rtl="0" algn="l">
              <a:spcBef>
                <a:spcPts val="1600"/>
              </a:spcBef>
              <a:spcAft>
                <a:spcPts val="1600"/>
              </a:spcAft>
              <a:buNone/>
            </a:pPr>
            <a:r>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Project Architecture</a:t>
            </a:r>
            <a:endParaRPr/>
          </a:p>
        </p:txBody>
      </p:sp>
      <p:grpSp>
        <p:nvGrpSpPr>
          <p:cNvPr id="73" name="Google Shape;73;p15"/>
          <p:cNvGrpSpPr/>
          <p:nvPr/>
        </p:nvGrpSpPr>
        <p:grpSpPr>
          <a:xfrm>
            <a:off x="2688745" y="917458"/>
            <a:ext cx="3768522" cy="3774409"/>
            <a:chOff x="2675582" y="676586"/>
            <a:chExt cx="3793942" cy="3790328"/>
          </a:xfrm>
        </p:grpSpPr>
        <p:sp>
          <p:nvSpPr>
            <p:cNvPr id="74" name="Google Shape;74;p15"/>
            <p:cNvSpPr/>
            <p:nvPr/>
          </p:nvSpPr>
          <p:spPr>
            <a:xfrm rot="-7199815">
              <a:off x="3183352" y="1184485"/>
              <a:ext cx="2774659" cy="2774659"/>
            </a:xfrm>
            <a:prstGeom prst="blockArc">
              <a:avLst>
                <a:gd fmla="val 12622480" name="adj1"/>
                <a:gd fmla="val 18176457" name="adj2"/>
                <a:gd fmla="val 20786" name="adj3"/>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rot="-1799815">
              <a:off x="3183352" y="1184357"/>
              <a:ext cx="2774659" cy="2774659"/>
            </a:xfrm>
            <a:prstGeom prst="blockArc">
              <a:avLst>
                <a:gd fmla="val 12622480" name="adj1"/>
                <a:gd fmla="val 18176457" name="adj2"/>
                <a:gd fmla="val 20786" name="adj3"/>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rot="3600185">
              <a:off x="3187094" y="1184439"/>
              <a:ext cx="2774659" cy="2774659"/>
            </a:xfrm>
            <a:prstGeom prst="blockArc">
              <a:avLst>
                <a:gd fmla="val 12564381" name="adj1"/>
                <a:gd fmla="val 18346131" name="adj2"/>
                <a:gd fmla="val 20844" name="adj3"/>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rot="9000185">
              <a:off x="3185977" y="1184485"/>
              <a:ext cx="2774659" cy="2774659"/>
            </a:xfrm>
            <a:prstGeom prst="blockArc">
              <a:avLst>
                <a:gd fmla="val 12622480" name="adj1"/>
                <a:gd fmla="val 18081133" name="adj2"/>
                <a:gd fmla="val 20809" name="adj3"/>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15"/>
            <p:cNvGrpSpPr/>
            <p:nvPr/>
          </p:nvGrpSpPr>
          <p:grpSpPr>
            <a:xfrm rot="5400000">
              <a:off x="5379663" y="2278951"/>
              <a:ext cx="585001" cy="585472"/>
              <a:chOff x="1967628" y="812211"/>
              <a:chExt cx="588000" cy="588000"/>
            </a:xfrm>
          </p:grpSpPr>
          <p:sp>
            <p:nvSpPr>
              <p:cNvPr id="79" name="Google Shape;79;p15"/>
              <p:cNvSpPr/>
              <p:nvPr/>
            </p:nvSpPr>
            <p:spPr>
              <a:xfrm rot="39023">
                <a:off x="1970909" y="815492"/>
                <a:ext cx="581437" cy="581437"/>
              </a:xfrm>
              <a:prstGeom prst="pie">
                <a:avLst>
                  <a:gd fmla="val 6190354" name="adj1"/>
                  <a:gd fmla="val 14996165" name="adj2"/>
                </a:avLst>
              </a:prstGeom>
              <a:solidFill>
                <a:srgbClr val="1B786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rot="10800000">
                <a:off x="1970875" y="815525"/>
                <a:ext cx="581400" cy="581400"/>
              </a:xfrm>
              <a:prstGeom prst="pie">
                <a:avLst>
                  <a:gd fmla="val 4028252" name="adj1"/>
                  <a:gd fmla="val 17183677" name="adj2"/>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 name="Google Shape;81;p15"/>
            <p:cNvGrpSpPr/>
            <p:nvPr/>
          </p:nvGrpSpPr>
          <p:grpSpPr>
            <a:xfrm rot="10800000">
              <a:off x="4280709" y="3378529"/>
              <a:ext cx="585001" cy="585472"/>
              <a:chOff x="1967628" y="812211"/>
              <a:chExt cx="588000" cy="588000"/>
            </a:xfrm>
          </p:grpSpPr>
          <p:sp>
            <p:nvSpPr>
              <p:cNvPr id="82" name="Google Shape;82;p15"/>
              <p:cNvSpPr/>
              <p:nvPr/>
            </p:nvSpPr>
            <p:spPr>
              <a:xfrm rot="39023">
                <a:off x="1970909" y="815492"/>
                <a:ext cx="581437" cy="581437"/>
              </a:xfrm>
              <a:prstGeom prst="pie">
                <a:avLst>
                  <a:gd fmla="val 6190354" name="adj1"/>
                  <a:gd fmla="val 14996165" name="adj2"/>
                </a:avLst>
              </a:prstGeom>
              <a:solidFill>
                <a:srgbClr val="1D7E7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rot="10800000">
                <a:off x="1970875" y="815525"/>
                <a:ext cx="581400" cy="581400"/>
              </a:xfrm>
              <a:prstGeom prst="pie">
                <a:avLst>
                  <a:gd fmla="val 4028252" name="adj1"/>
                  <a:gd fmla="val 17183677" name="adj2"/>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 name="Google Shape;84;p15"/>
            <p:cNvGrpSpPr/>
            <p:nvPr/>
          </p:nvGrpSpPr>
          <p:grpSpPr>
            <a:xfrm rot="-5400000">
              <a:off x="3179922" y="2281478"/>
              <a:ext cx="585001" cy="585472"/>
              <a:chOff x="1967628" y="812211"/>
              <a:chExt cx="588000" cy="588000"/>
            </a:xfrm>
          </p:grpSpPr>
          <p:sp>
            <p:nvSpPr>
              <p:cNvPr id="85" name="Google Shape;85;p15"/>
              <p:cNvSpPr/>
              <p:nvPr/>
            </p:nvSpPr>
            <p:spPr>
              <a:xfrm rot="39023">
                <a:off x="1970909" y="815492"/>
                <a:ext cx="581437" cy="581437"/>
              </a:xfrm>
              <a:prstGeom prst="pie">
                <a:avLst>
                  <a:gd fmla="val 6190354" name="adj1"/>
                  <a:gd fmla="val 14996165" name="adj2"/>
                </a:avLst>
              </a:prstGeom>
              <a:solidFill>
                <a:srgbClr val="1F887E"/>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rot="10800000">
                <a:off x="1970875" y="815525"/>
                <a:ext cx="581400" cy="581400"/>
              </a:xfrm>
              <a:prstGeom prst="pie">
                <a:avLst>
                  <a:gd fmla="val 4028252" name="adj1"/>
                  <a:gd fmla="val 17183677" name="adj2"/>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15"/>
            <p:cNvSpPr txBox="1"/>
            <p:nvPr/>
          </p:nvSpPr>
          <p:spPr>
            <a:xfrm>
              <a:off x="3214513" y="236061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sp>
          <p:nvSpPr>
            <p:cNvPr id="88" name="Google Shape;88;p15"/>
            <p:cNvSpPr txBox="1"/>
            <p:nvPr/>
          </p:nvSpPr>
          <p:spPr>
            <a:xfrm>
              <a:off x="4335750" y="346030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sp>
          <p:nvSpPr>
            <p:cNvPr id="89" name="Google Shape;89;p15"/>
            <p:cNvSpPr txBox="1"/>
            <p:nvPr/>
          </p:nvSpPr>
          <p:spPr>
            <a:xfrm>
              <a:off x="5419402" y="236061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nvGrpSpPr>
            <p:cNvPr id="90" name="Google Shape;90;p15"/>
            <p:cNvGrpSpPr/>
            <p:nvPr/>
          </p:nvGrpSpPr>
          <p:grpSpPr>
            <a:xfrm>
              <a:off x="4261689" y="1180926"/>
              <a:ext cx="585001" cy="585530"/>
              <a:chOff x="1967628" y="812211"/>
              <a:chExt cx="588000" cy="588000"/>
            </a:xfrm>
          </p:grpSpPr>
          <p:sp>
            <p:nvSpPr>
              <p:cNvPr id="91" name="Google Shape;91;p15"/>
              <p:cNvSpPr/>
              <p:nvPr/>
            </p:nvSpPr>
            <p:spPr>
              <a:xfrm rot="39023">
                <a:off x="1970909" y="815492"/>
                <a:ext cx="581437" cy="581437"/>
              </a:xfrm>
              <a:prstGeom prst="pie">
                <a:avLst>
                  <a:gd fmla="val 6190354" name="adj1"/>
                  <a:gd fmla="val 14996165" name="adj2"/>
                </a:avLst>
              </a:prstGeom>
              <a:solidFill>
                <a:srgbClr val="155B5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rot="10800000">
                <a:off x="1970875" y="815525"/>
                <a:ext cx="581400" cy="581400"/>
              </a:xfrm>
              <a:prstGeom prst="pie">
                <a:avLst>
                  <a:gd fmla="val 4028252" name="adj1"/>
                  <a:gd fmla="val 17183677" name="adj2"/>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15"/>
            <p:cNvSpPr txBox="1"/>
            <p:nvPr/>
          </p:nvSpPr>
          <p:spPr>
            <a:xfrm>
              <a:off x="4335750" y="1254446"/>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grpSp>
      <p:grpSp>
        <p:nvGrpSpPr>
          <p:cNvPr id="94" name="Google Shape;94;p15"/>
          <p:cNvGrpSpPr/>
          <p:nvPr/>
        </p:nvGrpSpPr>
        <p:grpSpPr>
          <a:xfrm>
            <a:off x="415225" y="1355925"/>
            <a:ext cx="3270988" cy="1289700"/>
            <a:chOff x="415225" y="1170486"/>
            <a:chExt cx="3270988" cy="1289700"/>
          </a:xfrm>
        </p:grpSpPr>
        <p:sp>
          <p:nvSpPr>
            <p:cNvPr id="95" name="Google Shape;95;p15"/>
            <p:cNvSpPr txBox="1"/>
            <p:nvPr/>
          </p:nvSpPr>
          <p:spPr>
            <a:xfrm>
              <a:off x="415225" y="1170486"/>
              <a:ext cx="2032200" cy="1289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it">
                  <a:solidFill>
                    <a:schemeClr val="dk1"/>
                  </a:solidFill>
                  <a:latin typeface="Oswald"/>
                  <a:ea typeface="Oswald"/>
                  <a:cs typeface="Oswald"/>
                  <a:sym typeface="Oswald"/>
                </a:rPr>
                <a:t>Extract / Load / </a:t>
              </a:r>
              <a:r>
                <a:rPr lang="it">
                  <a:solidFill>
                    <a:schemeClr val="dk1"/>
                  </a:solidFill>
                  <a:latin typeface="Oswald"/>
                  <a:ea typeface="Oswald"/>
                  <a:cs typeface="Oswald"/>
                  <a:sym typeface="Oswald"/>
                </a:rPr>
                <a:t>Transform </a:t>
              </a:r>
              <a:endParaRPr>
                <a:solidFill>
                  <a:schemeClr val="dk1"/>
                </a:solidFill>
                <a:latin typeface="Oswald"/>
                <a:ea typeface="Oswald"/>
                <a:cs typeface="Oswald"/>
                <a:sym typeface="Oswald"/>
              </a:endParaRPr>
            </a:p>
            <a:p>
              <a:pPr indent="0" lvl="0" marL="0" rtl="0" algn="r">
                <a:spcBef>
                  <a:spcPts val="0"/>
                </a:spcBef>
                <a:spcAft>
                  <a:spcPts val="0"/>
                </a:spcAft>
                <a:buNone/>
              </a:pPr>
              <a:r>
                <a:t/>
              </a:r>
              <a:endParaRPr sz="1000">
                <a:solidFill>
                  <a:schemeClr val="dk1"/>
                </a:solidFill>
                <a:latin typeface="Oswald"/>
                <a:ea typeface="Oswald"/>
                <a:cs typeface="Oswald"/>
                <a:sym typeface="Oswald"/>
              </a:endParaRPr>
            </a:p>
            <a:p>
              <a:pPr indent="0" lvl="0" marL="0" rtl="0" algn="r">
                <a:spcBef>
                  <a:spcPts val="0"/>
                </a:spcBef>
                <a:spcAft>
                  <a:spcPts val="1600"/>
                </a:spcAft>
                <a:buNone/>
              </a:pPr>
              <a:r>
                <a:rPr lang="it" sz="1000">
                  <a:solidFill>
                    <a:schemeClr val="dk1"/>
                  </a:solidFill>
                  <a:latin typeface="Oswald Light"/>
                  <a:ea typeface="Oswald Light"/>
                  <a:cs typeface="Oswald Light"/>
                  <a:sym typeface="Oswald Light"/>
                </a:rPr>
                <a:t>The first layer of our pipeline begins with data collection using Python, storage in BigQuery and transformation using dbt (Data Build Tool)</a:t>
              </a:r>
              <a:endParaRPr sz="1000">
                <a:solidFill>
                  <a:schemeClr val="dk1"/>
                </a:solidFill>
                <a:latin typeface="Oswald Light"/>
                <a:ea typeface="Oswald Light"/>
                <a:cs typeface="Oswald Light"/>
                <a:sym typeface="Oswald Light"/>
              </a:endParaRPr>
            </a:p>
          </p:txBody>
        </p:sp>
        <p:cxnSp>
          <p:nvCxnSpPr>
            <p:cNvPr id="96" name="Google Shape;96;p15"/>
            <p:cNvCxnSpPr/>
            <p:nvPr/>
          </p:nvCxnSpPr>
          <p:spPr>
            <a:xfrm rot="10800000">
              <a:off x="2641913" y="1831625"/>
              <a:ext cx="1044300" cy="0"/>
            </a:xfrm>
            <a:prstGeom prst="straightConnector1">
              <a:avLst/>
            </a:prstGeom>
            <a:noFill/>
            <a:ln cap="flat" cmpd="sng" w="9525">
              <a:solidFill>
                <a:srgbClr val="1F887E"/>
              </a:solidFill>
              <a:prstDash val="solid"/>
              <a:round/>
              <a:headEnd len="sm" w="sm" type="none"/>
              <a:tailEnd len="med" w="med" type="oval"/>
            </a:ln>
          </p:spPr>
        </p:cxnSp>
      </p:grpSp>
      <p:grpSp>
        <p:nvGrpSpPr>
          <p:cNvPr id="97" name="Google Shape;97;p15"/>
          <p:cNvGrpSpPr/>
          <p:nvPr/>
        </p:nvGrpSpPr>
        <p:grpSpPr>
          <a:xfrm>
            <a:off x="323500" y="3013714"/>
            <a:ext cx="3629413" cy="1289700"/>
            <a:chOff x="323500" y="2828275"/>
            <a:chExt cx="3629413" cy="1289700"/>
          </a:xfrm>
        </p:grpSpPr>
        <p:sp>
          <p:nvSpPr>
            <p:cNvPr id="98" name="Google Shape;98;p15"/>
            <p:cNvSpPr txBox="1"/>
            <p:nvPr/>
          </p:nvSpPr>
          <p:spPr>
            <a:xfrm>
              <a:off x="323500" y="2828275"/>
              <a:ext cx="2124000" cy="1289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it">
                  <a:solidFill>
                    <a:schemeClr val="dk1"/>
                  </a:solidFill>
                  <a:latin typeface="Oswald"/>
                  <a:ea typeface="Oswald"/>
                  <a:cs typeface="Oswald"/>
                  <a:sym typeface="Oswald"/>
                </a:rPr>
                <a:t>Testing</a:t>
              </a:r>
              <a:endParaRPr>
                <a:solidFill>
                  <a:schemeClr val="dk1"/>
                </a:solidFill>
                <a:latin typeface="Oswald"/>
                <a:ea typeface="Oswald"/>
                <a:cs typeface="Oswald"/>
                <a:sym typeface="Oswald"/>
              </a:endParaRPr>
            </a:p>
            <a:p>
              <a:pPr indent="0" lvl="0" marL="0" rtl="0" algn="r">
                <a:spcBef>
                  <a:spcPts val="0"/>
                </a:spcBef>
                <a:spcAft>
                  <a:spcPts val="0"/>
                </a:spcAft>
                <a:buNone/>
              </a:pPr>
              <a:r>
                <a:t/>
              </a:r>
              <a:endParaRPr sz="1000">
                <a:solidFill>
                  <a:schemeClr val="dk1"/>
                </a:solidFill>
                <a:latin typeface="Oswald Light"/>
                <a:ea typeface="Oswald Light"/>
                <a:cs typeface="Oswald Light"/>
                <a:sym typeface="Oswald Light"/>
              </a:endParaRPr>
            </a:p>
            <a:p>
              <a:pPr indent="0" lvl="0" marL="0" rtl="0" algn="r">
                <a:spcBef>
                  <a:spcPts val="0"/>
                </a:spcBef>
                <a:spcAft>
                  <a:spcPts val="1600"/>
                </a:spcAft>
                <a:buNone/>
              </a:pPr>
              <a:r>
                <a:rPr lang="it" sz="1000">
                  <a:solidFill>
                    <a:schemeClr val="dk1"/>
                  </a:solidFill>
                  <a:latin typeface="Oswald Light"/>
                  <a:ea typeface="Oswald Light"/>
                  <a:cs typeface="Oswald Light"/>
                  <a:sym typeface="Oswald Light"/>
                </a:rPr>
                <a:t>Testing, also performed using dbt, ensures our data’s integrity and correctness. </a:t>
              </a:r>
              <a:r>
                <a:rPr lang="it" sz="1000">
                  <a:solidFill>
                    <a:schemeClr val="dk1"/>
                  </a:solidFill>
                  <a:latin typeface="Oswald Light"/>
                  <a:ea typeface="Oswald Light"/>
                  <a:cs typeface="Oswald Light"/>
                  <a:sym typeface="Oswald Light"/>
                </a:rPr>
                <a:t>Testing</a:t>
              </a:r>
              <a:r>
                <a:rPr lang="it" sz="1000">
                  <a:solidFill>
                    <a:schemeClr val="dk1"/>
                  </a:solidFill>
                  <a:latin typeface="Oswald Light"/>
                  <a:ea typeface="Oswald Light"/>
                  <a:cs typeface="Oswald Light"/>
                  <a:sym typeface="Oswald Light"/>
                </a:rPr>
                <a:t> for accuracy and data integrity</a:t>
              </a:r>
              <a:endParaRPr sz="1000">
                <a:solidFill>
                  <a:schemeClr val="dk1"/>
                </a:solidFill>
                <a:latin typeface="Oswald Light"/>
                <a:ea typeface="Oswald Light"/>
                <a:cs typeface="Oswald Light"/>
                <a:sym typeface="Oswald Light"/>
              </a:endParaRPr>
            </a:p>
          </p:txBody>
        </p:sp>
        <p:cxnSp>
          <p:nvCxnSpPr>
            <p:cNvPr id="99" name="Google Shape;99;p15"/>
            <p:cNvCxnSpPr/>
            <p:nvPr/>
          </p:nvCxnSpPr>
          <p:spPr>
            <a:xfrm rot="10800000">
              <a:off x="2641913" y="3489425"/>
              <a:ext cx="1311000" cy="0"/>
            </a:xfrm>
            <a:prstGeom prst="straightConnector1">
              <a:avLst/>
            </a:prstGeom>
            <a:noFill/>
            <a:ln cap="flat" cmpd="sng" w="9525">
              <a:solidFill>
                <a:srgbClr val="1D7E75"/>
              </a:solidFill>
              <a:prstDash val="solid"/>
              <a:round/>
              <a:headEnd len="sm" w="sm" type="none"/>
              <a:tailEnd len="med" w="med" type="oval"/>
            </a:ln>
          </p:spPr>
        </p:cxnSp>
      </p:grpSp>
      <p:grpSp>
        <p:nvGrpSpPr>
          <p:cNvPr id="100" name="Google Shape;100;p15"/>
          <p:cNvGrpSpPr/>
          <p:nvPr/>
        </p:nvGrpSpPr>
        <p:grpSpPr>
          <a:xfrm>
            <a:off x="5209825" y="1245789"/>
            <a:ext cx="3610650" cy="1289700"/>
            <a:chOff x="5209825" y="1060350"/>
            <a:chExt cx="3610650" cy="1289700"/>
          </a:xfrm>
        </p:grpSpPr>
        <p:sp>
          <p:nvSpPr>
            <p:cNvPr id="101" name="Google Shape;101;p15"/>
            <p:cNvSpPr txBox="1"/>
            <p:nvPr/>
          </p:nvSpPr>
          <p:spPr>
            <a:xfrm>
              <a:off x="6696475" y="1060350"/>
              <a:ext cx="2124000" cy="128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it">
                  <a:solidFill>
                    <a:schemeClr val="dk1"/>
                  </a:solidFill>
                  <a:latin typeface="Oswald"/>
                  <a:ea typeface="Oswald"/>
                  <a:cs typeface="Oswald"/>
                  <a:sym typeface="Oswald"/>
                </a:rPr>
                <a:t>Data Revision and Updating</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1000">
                <a:solidFill>
                  <a:schemeClr val="dk1"/>
                </a:solidFill>
                <a:latin typeface="Oswald"/>
                <a:ea typeface="Oswald"/>
                <a:cs typeface="Oswald"/>
                <a:sym typeface="Oswald"/>
              </a:endParaRPr>
            </a:p>
            <a:p>
              <a:pPr indent="0" lvl="0" marL="0" marR="0" rtl="0" algn="l">
                <a:lnSpc>
                  <a:spcPct val="100000"/>
                </a:lnSpc>
                <a:spcBef>
                  <a:spcPts val="0"/>
                </a:spcBef>
                <a:spcAft>
                  <a:spcPts val="0"/>
                </a:spcAft>
                <a:buNone/>
              </a:pPr>
              <a:r>
                <a:rPr lang="it" sz="1000">
                  <a:solidFill>
                    <a:schemeClr val="dk1"/>
                  </a:solidFill>
                  <a:latin typeface="Oswald Light"/>
                  <a:ea typeface="Oswald Light"/>
                  <a:cs typeface="Oswald Light"/>
                  <a:sym typeface="Oswald Light"/>
                </a:rPr>
                <a:t>The project is built to allow individual data sources to be revised should there be updated data. The interface allows you to repeat the pipeline rebuilding the data and completing the cycle, allowing easy iteration</a:t>
              </a:r>
              <a:endParaRPr sz="1000">
                <a:solidFill>
                  <a:schemeClr val="dk1"/>
                </a:solidFill>
                <a:latin typeface="Oswald Light"/>
                <a:ea typeface="Oswald Light"/>
                <a:cs typeface="Oswald Light"/>
                <a:sym typeface="Oswald Light"/>
              </a:endParaRPr>
            </a:p>
          </p:txBody>
        </p:sp>
        <p:cxnSp>
          <p:nvCxnSpPr>
            <p:cNvPr id="102" name="Google Shape;102;p15"/>
            <p:cNvCxnSpPr/>
            <p:nvPr/>
          </p:nvCxnSpPr>
          <p:spPr>
            <a:xfrm>
              <a:off x="5209825" y="1705200"/>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103" name="Google Shape;103;p15"/>
          <p:cNvGrpSpPr/>
          <p:nvPr/>
        </p:nvGrpSpPr>
        <p:grpSpPr>
          <a:xfrm>
            <a:off x="5209825" y="3205889"/>
            <a:ext cx="3610650" cy="1289700"/>
            <a:chOff x="5209825" y="3020450"/>
            <a:chExt cx="3610650" cy="1289700"/>
          </a:xfrm>
        </p:grpSpPr>
        <p:sp>
          <p:nvSpPr>
            <p:cNvPr id="104" name="Google Shape;104;p15"/>
            <p:cNvSpPr txBox="1"/>
            <p:nvPr/>
          </p:nvSpPr>
          <p:spPr>
            <a:xfrm>
              <a:off x="6696475" y="3020450"/>
              <a:ext cx="2124000" cy="128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it">
                  <a:solidFill>
                    <a:schemeClr val="dk1"/>
                  </a:solidFill>
                  <a:latin typeface="Oswald"/>
                  <a:ea typeface="Oswald"/>
                  <a:cs typeface="Oswald"/>
                  <a:sym typeface="Oswald"/>
                </a:rPr>
                <a:t>Exploratory Data Analysis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1000">
                <a:solidFill>
                  <a:schemeClr val="dk1"/>
                </a:solidFill>
                <a:latin typeface="Oswald"/>
                <a:ea typeface="Oswald"/>
                <a:cs typeface="Oswald"/>
                <a:sym typeface="Oswald"/>
              </a:endParaRPr>
            </a:p>
            <a:p>
              <a:pPr indent="0" lvl="0" marL="0" rtl="0" algn="l">
                <a:spcBef>
                  <a:spcPts val="0"/>
                </a:spcBef>
                <a:spcAft>
                  <a:spcPts val="1600"/>
                </a:spcAft>
                <a:buNone/>
              </a:pPr>
              <a:r>
                <a:rPr lang="it" sz="1000">
                  <a:solidFill>
                    <a:schemeClr val="dk1"/>
                  </a:solidFill>
                  <a:latin typeface="Oswald Light"/>
                  <a:ea typeface="Oswald Light"/>
                  <a:cs typeface="Oswald Light"/>
                  <a:sym typeface="Oswald Light"/>
                </a:rPr>
                <a:t>This phase looks to derive meaning from the data collected, making sense of the observable trends in our data</a:t>
              </a:r>
              <a:endParaRPr sz="1000">
                <a:solidFill>
                  <a:schemeClr val="dk1"/>
                </a:solidFill>
                <a:latin typeface="Oswald Light"/>
                <a:ea typeface="Oswald Light"/>
                <a:cs typeface="Oswald Light"/>
                <a:sym typeface="Oswald Light"/>
              </a:endParaRPr>
            </a:p>
          </p:txBody>
        </p:sp>
        <p:cxnSp>
          <p:nvCxnSpPr>
            <p:cNvPr id="105" name="Google Shape;105;p15"/>
            <p:cNvCxnSpPr/>
            <p:nvPr/>
          </p:nvCxnSpPr>
          <p:spPr>
            <a:xfrm>
              <a:off x="5209825" y="3648300"/>
              <a:ext cx="1286700" cy="0"/>
            </a:xfrm>
            <a:prstGeom prst="straightConnector1">
              <a:avLst/>
            </a:prstGeom>
            <a:noFill/>
            <a:ln cap="flat" cmpd="sng" w="9525">
              <a:solidFill>
                <a:srgbClr val="1B786F"/>
              </a:solidFill>
              <a:prstDash val="solid"/>
              <a:round/>
              <a:headEnd len="sm" w="sm" type="none"/>
              <a:tailEnd len="med" w="med" type="oval"/>
            </a:ln>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Datasets &amp; Data Scraping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WHAT HAS BEEN PERFORMED</a:t>
            </a:r>
            <a:endParaRPr/>
          </a:p>
        </p:txBody>
      </p:sp>
      <p:sp>
        <p:nvSpPr>
          <p:cNvPr id="116" name="Google Shape;116;p17"/>
          <p:cNvSpPr txBox="1"/>
          <p:nvPr>
            <p:ph idx="2" type="body"/>
          </p:nvPr>
        </p:nvSpPr>
        <p:spPr>
          <a:xfrm>
            <a:off x="4939500" y="594100"/>
            <a:ext cx="3837000" cy="4022400"/>
          </a:xfrm>
          <a:prstGeom prst="rect">
            <a:avLst/>
          </a:prstGeom>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b="1" lang="it"/>
              <a:t>Dynamic Web Scraping: </a:t>
            </a:r>
            <a:r>
              <a:rPr lang="it"/>
              <a:t>Extract data needed from the sources.</a:t>
            </a:r>
            <a:endParaRPr/>
          </a:p>
          <a:p>
            <a:pPr indent="-342900" lvl="0" marL="457200" rtl="0" algn="l">
              <a:lnSpc>
                <a:spcPct val="100000"/>
              </a:lnSpc>
              <a:spcBef>
                <a:spcPts val="1000"/>
              </a:spcBef>
              <a:spcAft>
                <a:spcPts val="1000"/>
              </a:spcAft>
              <a:buSzPts val="1800"/>
              <a:buChar char="●"/>
            </a:pPr>
            <a:r>
              <a:rPr b="1" lang="it"/>
              <a:t>DataFrame Creation: </a:t>
            </a:r>
            <a:r>
              <a:rPr lang="it"/>
              <a:t>Create the DataFrames used for the entire project.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18"/>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22" name="Google Shape;122;p18"/>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Requirements</a:t>
            </a:r>
            <a:endParaRPr/>
          </a:p>
        </p:txBody>
      </p:sp>
      <p:sp>
        <p:nvSpPr>
          <p:cNvPr id="123" name="Google Shape;123;p18"/>
          <p:cNvSpPr txBox="1"/>
          <p:nvPr>
            <p:ph idx="4294967295" type="body"/>
          </p:nvPr>
        </p:nvSpPr>
        <p:spPr>
          <a:xfrm>
            <a:off x="25" y="1252925"/>
            <a:ext cx="9144000" cy="37278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lang="it" sz="1700">
                <a:solidFill>
                  <a:schemeClr val="lt1"/>
                </a:solidFill>
              </a:rPr>
              <a:t>The Data Scraping stage is implemented with Python 3.8+ </a:t>
            </a:r>
            <a:r>
              <a:rPr lang="it" sz="1700">
                <a:solidFill>
                  <a:schemeClr val="lt1"/>
                </a:solidFill>
              </a:rPr>
              <a:t>and the following libraries:</a:t>
            </a:r>
            <a:endParaRPr sz="1700">
              <a:solidFill>
                <a:schemeClr val="lt1"/>
              </a:solidFill>
            </a:endParaRPr>
          </a:p>
          <a:p>
            <a:pPr indent="0" lvl="0" marL="457200" rtl="0" algn="l">
              <a:lnSpc>
                <a:spcPct val="100000"/>
              </a:lnSpc>
              <a:spcBef>
                <a:spcPts val="1000"/>
              </a:spcBef>
              <a:spcAft>
                <a:spcPts val="1000"/>
              </a:spcAft>
              <a:buNone/>
            </a:pPr>
            <a:r>
              <a:t/>
            </a:r>
            <a:endParaRPr>
              <a:solidFill>
                <a:schemeClr val="lt1"/>
              </a:solidFill>
            </a:endParaRPr>
          </a:p>
        </p:txBody>
      </p:sp>
      <p:pic>
        <p:nvPicPr>
          <p:cNvPr id="124" name="Google Shape;124;p18" title="Immagine 2026-01-06 223510.png"/>
          <p:cNvPicPr preferRelativeResize="0"/>
          <p:nvPr/>
        </p:nvPicPr>
        <p:blipFill>
          <a:blip r:embed="rId3">
            <a:alphaModFix/>
          </a:blip>
          <a:stretch>
            <a:fillRect/>
          </a:stretch>
        </p:blipFill>
        <p:spPr>
          <a:xfrm>
            <a:off x="545575" y="1923325"/>
            <a:ext cx="7744125" cy="2681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19"/>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30" name="Google Shape;130;p19"/>
          <p:cNvSpPr txBox="1"/>
          <p:nvPr>
            <p:ph idx="4294967295" type="body"/>
          </p:nvPr>
        </p:nvSpPr>
        <p:spPr>
          <a:xfrm>
            <a:off x="294675" y="1312650"/>
            <a:ext cx="6992100" cy="3094200"/>
          </a:xfrm>
          <a:prstGeom prst="rect">
            <a:avLst/>
          </a:prstGeom>
        </p:spPr>
        <p:txBody>
          <a:bodyPr anchorCtr="0" anchor="t" bIns="91425" lIns="91425" spcFirstLastPara="1" rIns="91425" wrap="square" tIns="91425">
            <a:noAutofit/>
          </a:bodyPr>
          <a:lstStyle/>
          <a:p>
            <a:pPr indent="-342900" lvl="0" marL="914400" marR="0" rtl="0" algn="l">
              <a:lnSpc>
                <a:spcPct val="100000"/>
              </a:lnSpc>
              <a:spcBef>
                <a:spcPts val="1000"/>
              </a:spcBef>
              <a:spcAft>
                <a:spcPts val="0"/>
              </a:spcAft>
              <a:buClr>
                <a:schemeClr val="lt1"/>
              </a:buClr>
              <a:buSzPts val="1800"/>
              <a:buAutoNum type="arabicPeriod"/>
            </a:pPr>
            <a:r>
              <a:rPr b="1" lang="it">
                <a:solidFill>
                  <a:schemeClr val="lt1"/>
                </a:solidFill>
              </a:rPr>
              <a:t>US Corn Supply &amp; Demand</a:t>
            </a:r>
            <a:endParaRPr b="1">
              <a:solidFill>
                <a:schemeClr val="lt1"/>
              </a:solidFill>
            </a:endParaRPr>
          </a:p>
          <a:p>
            <a:pPr indent="-336550" lvl="0" marL="1371600" marR="0" rtl="0" algn="l">
              <a:lnSpc>
                <a:spcPct val="100000"/>
              </a:lnSpc>
              <a:spcBef>
                <a:spcPts val="1000"/>
              </a:spcBef>
              <a:spcAft>
                <a:spcPts val="0"/>
              </a:spcAft>
              <a:buClr>
                <a:schemeClr val="lt1"/>
              </a:buClr>
              <a:buSzPts val="1700"/>
              <a:buChar char="●"/>
            </a:pPr>
            <a:r>
              <a:rPr lang="it" sz="1700">
                <a:solidFill>
                  <a:schemeClr val="lt1"/>
                </a:solidFill>
              </a:rPr>
              <a:t>Source: USDA Corn Supply Demand Report (Excel)</a:t>
            </a:r>
            <a:endParaRPr sz="1700">
              <a:solidFill>
                <a:schemeClr val="lt1"/>
              </a:solidFill>
            </a:endParaRPr>
          </a:p>
          <a:p>
            <a:pPr indent="-336550" lvl="0" marL="1371600" marR="0" rtl="0" algn="l">
              <a:lnSpc>
                <a:spcPct val="100000"/>
              </a:lnSpc>
              <a:spcBef>
                <a:spcPts val="300"/>
              </a:spcBef>
              <a:spcAft>
                <a:spcPts val="0"/>
              </a:spcAft>
              <a:buClr>
                <a:schemeClr val="lt1"/>
              </a:buClr>
              <a:buSzPts val="1700"/>
              <a:buChar char="●"/>
            </a:pPr>
            <a:r>
              <a:rPr lang="it" sz="1700">
                <a:solidFill>
                  <a:schemeClr val="lt1"/>
                </a:solidFill>
              </a:rPr>
              <a:t>Sheet: Annual Data</a:t>
            </a:r>
            <a:endParaRPr sz="1700">
              <a:solidFill>
                <a:schemeClr val="lt1"/>
              </a:solidFill>
            </a:endParaRPr>
          </a:p>
          <a:p>
            <a:pPr indent="-336550" lvl="0" marL="1371600" marR="0" rtl="0" algn="l">
              <a:lnSpc>
                <a:spcPct val="100000"/>
              </a:lnSpc>
              <a:spcBef>
                <a:spcPts val="300"/>
              </a:spcBef>
              <a:spcAft>
                <a:spcPts val="0"/>
              </a:spcAft>
              <a:buClr>
                <a:schemeClr val="lt1"/>
              </a:buClr>
              <a:buSzPts val="1700"/>
              <a:buChar char="●"/>
            </a:pPr>
            <a:r>
              <a:rPr lang="it" sz="1700">
                <a:solidFill>
                  <a:schemeClr val="lt1"/>
                </a:solidFill>
              </a:rPr>
              <a:t>Years: 1973–2024 (exclude 2025 estimates)</a:t>
            </a:r>
            <a:endParaRPr sz="1700">
              <a:solidFill>
                <a:schemeClr val="lt1"/>
              </a:solidFill>
            </a:endParaRPr>
          </a:p>
          <a:p>
            <a:pPr indent="-336550" lvl="0" marL="1371600" marR="0" rtl="0" algn="l">
              <a:lnSpc>
                <a:spcPct val="100000"/>
              </a:lnSpc>
              <a:spcBef>
                <a:spcPts val="300"/>
              </a:spcBef>
              <a:spcAft>
                <a:spcPts val="0"/>
              </a:spcAft>
              <a:buClr>
                <a:schemeClr val="lt1"/>
              </a:buClr>
              <a:buSzPts val="1700"/>
              <a:buChar char="●"/>
            </a:pPr>
            <a:r>
              <a:rPr lang="it" sz="1700">
                <a:solidFill>
                  <a:schemeClr val="lt1"/>
                </a:solidFill>
              </a:rPr>
              <a:t>Key Metrics:</a:t>
            </a:r>
            <a:endParaRPr sz="1700">
              <a:solidFill>
                <a:schemeClr val="lt1"/>
              </a:solidFill>
            </a:endParaRPr>
          </a:p>
          <a:p>
            <a:pPr indent="-292100" lvl="1" marL="1828800" rtl="0" algn="l">
              <a:spcBef>
                <a:spcPts val="300"/>
              </a:spcBef>
              <a:spcAft>
                <a:spcPts val="0"/>
              </a:spcAft>
              <a:buSzPts val="1000"/>
              <a:buChar char="○"/>
            </a:pPr>
            <a:r>
              <a:rPr lang="it" sz="1700">
                <a:solidFill>
                  <a:schemeClr val="lt1"/>
                </a:solidFill>
              </a:rPr>
              <a:t>Acres planted &amp; harvested</a:t>
            </a:r>
            <a:endParaRPr sz="1700">
              <a:solidFill>
                <a:schemeClr val="lt1"/>
              </a:solidFill>
            </a:endParaRPr>
          </a:p>
          <a:p>
            <a:pPr indent="-292100" lvl="1" marL="1828800" rtl="0" algn="l">
              <a:spcBef>
                <a:spcPts val="0"/>
              </a:spcBef>
              <a:spcAft>
                <a:spcPts val="0"/>
              </a:spcAft>
              <a:buSzPts val="1000"/>
              <a:buChar char="○"/>
            </a:pPr>
            <a:r>
              <a:rPr lang="it" sz="1700">
                <a:solidFill>
                  <a:schemeClr val="lt1"/>
                </a:solidFill>
              </a:rPr>
              <a:t>Yield</a:t>
            </a:r>
            <a:endParaRPr sz="1700">
              <a:solidFill>
                <a:schemeClr val="lt1"/>
              </a:solidFill>
            </a:endParaRPr>
          </a:p>
          <a:p>
            <a:pPr indent="-292100" lvl="1" marL="1828800" rtl="0" algn="l">
              <a:spcBef>
                <a:spcPts val="0"/>
              </a:spcBef>
              <a:spcAft>
                <a:spcPts val="0"/>
              </a:spcAft>
              <a:buSzPts val="1000"/>
              <a:buChar char="○"/>
            </a:pPr>
            <a:r>
              <a:rPr lang="it" sz="1700">
                <a:solidFill>
                  <a:schemeClr val="lt1"/>
                </a:solidFill>
              </a:rPr>
              <a:t>Production, supply, usage</a:t>
            </a:r>
            <a:endParaRPr sz="1700">
              <a:solidFill>
                <a:schemeClr val="lt1"/>
              </a:solidFill>
            </a:endParaRPr>
          </a:p>
          <a:p>
            <a:pPr indent="-292100" lvl="1" marL="1828800" rtl="0" algn="l">
              <a:spcBef>
                <a:spcPts val="0"/>
              </a:spcBef>
              <a:spcAft>
                <a:spcPts val="0"/>
              </a:spcAft>
              <a:buSzPts val="1000"/>
              <a:buChar char="○"/>
            </a:pPr>
            <a:r>
              <a:rPr lang="it" sz="1700">
                <a:solidFill>
                  <a:schemeClr val="lt1"/>
                </a:solidFill>
              </a:rPr>
              <a:t>Imports, exports, ending stocks</a:t>
            </a:r>
            <a:endParaRPr sz="1300">
              <a:solidFill>
                <a:schemeClr val="lt1"/>
              </a:solidFill>
            </a:endParaRPr>
          </a:p>
        </p:txBody>
      </p:sp>
      <p:sp>
        <p:nvSpPr>
          <p:cNvPr id="131" name="Google Shape;131;p19"/>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Sources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20"/>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37" name="Google Shape;137;p20"/>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Sources</a:t>
            </a:r>
            <a:endParaRPr/>
          </a:p>
        </p:txBody>
      </p:sp>
      <p:sp>
        <p:nvSpPr>
          <p:cNvPr id="138" name="Google Shape;138;p20"/>
          <p:cNvSpPr txBox="1"/>
          <p:nvPr>
            <p:ph idx="4294967295" type="body"/>
          </p:nvPr>
        </p:nvSpPr>
        <p:spPr>
          <a:xfrm>
            <a:off x="401875" y="1165250"/>
            <a:ext cx="8184000" cy="3897900"/>
          </a:xfrm>
          <a:prstGeom prst="rect">
            <a:avLst/>
          </a:prstGeom>
        </p:spPr>
        <p:txBody>
          <a:bodyPr anchorCtr="0" anchor="t" bIns="91425" lIns="91425" spcFirstLastPara="1" rIns="91425" wrap="square" tIns="91425">
            <a:noAutofit/>
          </a:bodyPr>
          <a:lstStyle/>
          <a:p>
            <a:pPr indent="457200" lvl="0" marL="0" rtl="0" algn="l">
              <a:lnSpc>
                <a:spcPct val="100000"/>
              </a:lnSpc>
              <a:spcBef>
                <a:spcPts val="1000"/>
              </a:spcBef>
              <a:spcAft>
                <a:spcPts val="0"/>
              </a:spcAft>
              <a:buNone/>
            </a:pPr>
            <a:r>
              <a:rPr b="1" lang="it">
                <a:solidFill>
                  <a:schemeClr val="lt1"/>
                </a:solidFill>
              </a:rPr>
              <a:t>2.	</a:t>
            </a:r>
            <a:r>
              <a:rPr b="1" lang="it">
                <a:solidFill>
                  <a:schemeClr val="lt1"/>
                </a:solidFill>
              </a:rPr>
              <a:t>USDA QuickStats</a:t>
            </a:r>
            <a:endParaRPr sz="1700">
              <a:solidFill>
                <a:schemeClr val="lt1"/>
              </a:solidFill>
            </a:endParaRPr>
          </a:p>
          <a:p>
            <a:pPr indent="457200" lvl="0" marL="457200" marR="0" rtl="0" algn="l">
              <a:lnSpc>
                <a:spcPct val="115000"/>
              </a:lnSpc>
              <a:spcBef>
                <a:spcPts val="1200"/>
              </a:spcBef>
              <a:spcAft>
                <a:spcPts val="0"/>
              </a:spcAft>
              <a:buNone/>
            </a:pPr>
            <a:r>
              <a:rPr lang="it" sz="1700">
                <a:solidFill>
                  <a:schemeClr val="lt1"/>
                </a:solidFill>
              </a:rPr>
              <a:t>Data collected through dynamic web scraping:</a:t>
            </a:r>
            <a:endParaRPr sz="1700">
              <a:solidFill>
                <a:schemeClr val="lt1"/>
              </a:solidFill>
            </a:endParaRPr>
          </a:p>
          <a:p>
            <a:pPr indent="-336550" lvl="0" marL="1371600" marR="0" rtl="0" algn="l">
              <a:lnSpc>
                <a:spcPct val="115000"/>
              </a:lnSpc>
              <a:spcBef>
                <a:spcPts val="1200"/>
              </a:spcBef>
              <a:spcAft>
                <a:spcPts val="0"/>
              </a:spcAft>
              <a:buClr>
                <a:schemeClr val="lt1"/>
              </a:buClr>
              <a:buSzPts val="1700"/>
              <a:buChar char="●"/>
            </a:pPr>
            <a:r>
              <a:rPr lang="it" sz="1700">
                <a:solidFill>
                  <a:schemeClr val="lt1"/>
                </a:solidFill>
              </a:rPr>
              <a:t>Corn Price - </a:t>
            </a:r>
            <a:r>
              <a:rPr lang="it" sz="1600">
                <a:solidFill>
                  <a:schemeClr val="lt1"/>
                </a:solidFill>
              </a:rPr>
              <a:t>monthly data from 1973 to 2024</a:t>
            </a:r>
            <a:endParaRPr sz="1600">
              <a:solidFill>
                <a:schemeClr val="lt1"/>
              </a:solidFill>
            </a:endParaRPr>
          </a:p>
          <a:p>
            <a:pPr indent="-336550" lvl="0" marL="1371600" marR="0" rtl="0" algn="l">
              <a:lnSpc>
                <a:spcPct val="115000"/>
              </a:lnSpc>
              <a:spcBef>
                <a:spcPts val="0"/>
              </a:spcBef>
              <a:spcAft>
                <a:spcPts val="0"/>
              </a:spcAft>
              <a:buClr>
                <a:schemeClr val="lt1"/>
              </a:buClr>
              <a:buSzPts val="1700"/>
              <a:buChar char="●"/>
            </a:pPr>
            <a:r>
              <a:rPr lang="it" sz="1700">
                <a:solidFill>
                  <a:schemeClr val="lt1"/>
                </a:solidFill>
              </a:rPr>
              <a:t>Crop Planting Process -</a:t>
            </a:r>
            <a:r>
              <a:rPr lang="it" sz="1600">
                <a:solidFill>
                  <a:schemeClr val="lt1"/>
                </a:solidFill>
              </a:rPr>
              <a:t> weekly data from 1986 to 2024</a:t>
            </a:r>
            <a:endParaRPr sz="1600">
              <a:solidFill>
                <a:schemeClr val="lt1"/>
              </a:solidFill>
            </a:endParaRPr>
          </a:p>
          <a:p>
            <a:pPr indent="-336550" lvl="0" marL="1371600" marR="0" rtl="0" algn="l">
              <a:lnSpc>
                <a:spcPct val="115000"/>
              </a:lnSpc>
              <a:spcBef>
                <a:spcPts val="0"/>
              </a:spcBef>
              <a:spcAft>
                <a:spcPts val="0"/>
              </a:spcAft>
              <a:buClr>
                <a:schemeClr val="lt1"/>
              </a:buClr>
              <a:buSzPts val="1700"/>
              <a:buChar char="●"/>
            </a:pPr>
            <a:r>
              <a:rPr lang="it" sz="1700">
                <a:solidFill>
                  <a:schemeClr val="lt1"/>
                </a:solidFill>
              </a:rPr>
              <a:t>Corn Condition - </a:t>
            </a:r>
            <a:r>
              <a:rPr lang="it" sz="1600">
                <a:solidFill>
                  <a:schemeClr val="lt1"/>
                </a:solidFill>
              </a:rPr>
              <a:t>weekly data from 1986 to 2024</a:t>
            </a:r>
            <a:endParaRPr sz="1600">
              <a:solidFill>
                <a:schemeClr val="lt1"/>
              </a:solidFill>
            </a:endParaRPr>
          </a:p>
          <a:p>
            <a:pPr indent="457200" lvl="0" marL="0" marR="0" rtl="0" algn="l">
              <a:lnSpc>
                <a:spcPct val="115000"/>
              </a:lnSpc>
              <a:spcBef>
                <a:spcPts val="1200"/>
              </a:spcBef>
              <a:spcAft>
                <a:spcPts val="0"/>
              </a:spcAft>
              <a:buNone/>
            </a:pPr>
            <a:r>
              <a:rPr b="1" lang="it">
                <a:solidFill>
                  <a:schemeClr val="lt1"/>
                </a:solidFill>
              </a:rPr>
              <a:t>3. 	NOAA Climate Data</a:t>
            </a:r>
            <a:endParaRPr b="1">
              <a:solidFill>
                <a:schemeClr val="lt1"/>
              </a:solidFill>
            </a:endParaRPr>
          </a:p>
          <a:p>
            <a:pPr indent="-336550" lvl="0" marL="1371600" marR="0" rtl="0" algn="l">
              <a:lnSpc>
                <a:spcPct val="115000"/>
              </a:lnSpc>
              <a:spcBef>
                <a:spcPts val="1200"/>
              </a:spcBef>
              <a:spcAft>
                <a:spcPts val="0"/>
              </a:spcAft>
              <a:buClr>
                <a:schemeClr val="lt1"/>
              </a:buClr>
              <a:buSzPts val="1700"/>
              <a:buChar char="●"/>
            </a:pPr>
            <a:r>
              <a:rPr lang="it" sz="1700">
                <a:solidFill>
                  <a:schemeClr val="lt1"/>
                </a:solidFill>
              </a:rPr>
              <a:t>National rainfall &amp; temperature (daily data from 1973 to 2024)</a:t>
            </a:r>
            <a:endParaRPr sz="1700">
              <a:solidFill>
                <a:schemeClr val="lt1"/>
              </a:solidFill>
            </a:endParaRPr>
          </a:p>
          <a:p>
            <a:pPr indent="-336550" lvl="0" marL="1371600" marR="0" rtl="0" algn="l">
              <a:lnSpc>
                <a:spcPct val="115000"/>
              </a:lnSpc>
              <a:spcBef>
                <a:spcPts val="0"/>
              </a:spcBef>
              <a:spcAft>
                <a:spcPts val="0"/>
              </a:spcAft>
              <a:buClr>
                <a:schemeClr val="lt1"/>
              </a:buClr>
              <a:buSzPts val="1700"/>
              <a:buChar char="●"/>
            </a:pPr>
            <a:r>
              <a:rPr lang="it" sz="1700">
                <a:solidFill>
                  <a:schemeClr val="lt1"/>
                </a:solidFill>
              </a:rPr>
              <a:t>CSV download via URL parameters</a:t>
            </a:r>
            <a:endParaRPr sz="1700">
              <a:solidFill>
                <a:schemeClr val="lt1"/>
              </a:solidFill>
            </a:endParaRPr>
          </a:p>
          <a:p>
            <a:pPr indent="-336550" lvl="0" marL="1371600" marR="0" rtl="0" algn="l">
              <a:lnSpc>
                <a:spcPct val="115000"/>
              </a:lnSpc>
              <a:spcBef>
                <a:spcPts val="0"/>
              </a:spcBef>
              <a:spcAft>
                <a:spcPts val="0"/>
              </a:spcAft>
              <a:buClr>
                <a:schemeClr val="lt1"/>
              </a:buClr>
              <a:buSzPts val="1700"/>
              <a:buChar char="●"/>
            </a:pPr>
            <a:r>
              <a:rPr lang="it" sz="1700">
                <a:solidFill>
                  <a:schemeClr val="lt1"/>
                </a:solidFill>
              </a:rPr>
              <a:t>Daily granularity for modeling flexibility</a:t>
            </a:r>
            <a:endParaRPr sz="17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21"/>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44" name="Google Shape;144;p21"/>
          <p:cNvSpPr txBox="1"/>
          <p:nvPr>
            <p:ph idx="4294967295" type="body"/>
          </p:nvPr>
        </p:nvSpPr>
        <p:spPr>
          <a:xfrm>
            <a:off x="308075" y="1058100"/>
            <a:ext cx="8291100" cy="36624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solidFill>
                <a:schemeClr val="lt1"/>
              </a:solidFill>
            </a:endParaRPr>
          </a:p>
          <a:p>
            <a:pPr indent="0" lvl="0" marL="457200" marR="0" rtl="0" algn="just">
              <a:lnSpc>
                <a:spcPct val="100000"/>
              </a:lnSpc>
              <a:spcBef>
                <a:spcPts val="1000"/>
              </a:spcBef>
              <a:spcAft>
                <a:spcPts val="0"/>
              </a:spcAft>
              <a:buNone/>
            </a:pPr>
            <a:r>
              <a:rPr lang="it" sz="1700">
                <a:solidFill>
                  <a:schemeClr val="lt1"/>
                </a:solidFill>
              </a:rPr>
              <a:t>We automated the process of data collection from </a:t>
            </a:r>
            <a:r>
              <a:rPr lang="it" sz="1700" u="sng">
                <a:solidFill>
                  <a:srgbClr val="0000FF"/>
                </a:solidFill>
                <a:hlinkClick r:id="rId3">
                  <a:extLst>
                    <a:ext uri="{A12FA001-AC4F-418D-AE19-62706E023703}">
                      <ahyp:hlinkClr val="tx"/>
                    </a:ext>
                  </a:extLst>
                </a:hlinkClick>
              </a:rPr>
              <a:t>https://quickstats.nass.usda.gov/</a:t>
            </a:r>
            <a:endParaRPr sz="1700">
              <a:solidFill>
                <a:schemeClr val="lt1"/>
              </a:solidFill>
            </a:endParaRPr>
          </a:p>
          <a:p>
            <a:pPr indent="0" lvl="0" marL="457200" marR="0" rtl="0" algn="just">
              <a:lnSpc>
                <a:spcPct val="100000"/>
              </a:lnSpc>
              <a:spcBef>
                <a:spcPts val="300"/>
              </a:spcBef>
              <a:spcAft>
                <a:spcPts val="0"/>
              </a:spcAft>
              <a:buNone/>
            </a:pPr>
            <a:r>
              <a:rPr lang="it" sz="1700">
                <a:solidFill>
                  <a:schemeClr val="lt1"/>
                </a:solidFill>
              </a:rPr>
              <a:t>with </a:t>
            </a:r>
            <a:r>
              <a:rPr b="1" lang="it" sz="1700">
                <a:solidFill>
                  <a:schemeClr val="lt1"/>
                </a:solidFill>
              </a:rPr>
              <a:t>Selenium</a:t>
            </a:r>
            <a:r>
              <a:rPr lang="it" sz="1700">
                <a:solidFill>
                  <a:schemeClr val="lt1"/>
                </a:solidFill>
              </a:rPr>
              <a:t> for dropdown driven-data.</a:t>
            </a:r>
            <a:endParaRPr sz="1700">
              <a:solidFill>
                <a:schemeClr val="lt1"/>
              </a:solidFill>
            </a:endParaRPr>
          </a:p>
          <a:p>
            <a:pPr indent="0" lvl="0" marL="457200" marR="0" rtl="0" algn="just">
              <a:lnSpc>
                <a:spcPct val="100000"/>
              </a:lnSpc>
              <a:spcBef>
                <a:spcPts val="300"/>
              </a:spcBef>
              <a:spcAft>
                <a:spcPts val="0"/>
              </a:spcAft>
              <a:buNone/>
            </a:pPr>
            <a:r>
              <a:t/>
            </a:r>
            <a:endParaRPr sz="1700">
              <a:solidFill>
                <a:schemeClr val="lt1"/>
              </a:solidFill>
            </a:endParaRPr>
          </a:p>
          <a:p>
            <a:pPr indent="0" lvl="0" marL="457200" marR="0" rtl="0" algn="just">
              <a:lnSpc>
                <a:spcPct val="100000"/>
              </a:lnSpc>
              <a:spcBef>
                <a:spcPts val="300"/>
              </a:spcBef>
              <a:spcAft>
                <a:spcPts val="0"/>
              </a:spcAft>
              <a:buNone/>
            </a:pPr>
            <a:r>
              <a:t/>
            </a:r>
            <a:endParaRPr sz="1700">
              <a:solidFill>
                <a:schemeClr val="lt1"/>
              </a:solidFill>
            </a:endParaRPr>
          </a:p>
          <a:p>
            <a:pPr indent="0" lvl="0" marL="457200" marR="0" rtl="0" algn="just">
              <a:lnSpc>
                <a:spcPct val="100000"/>
              </a:lnSpc>
              <a:spcBef>
                <a:spcPts val="1500"/>
              </a:spcBef>
              <a:spcAft>
                <a:spcPts val="0"/>
              </a:spcAft>
              <a:buNone/>
            </a:pPr>
            <a:r>
              <a:rPr b="1" lang="it">
                <a:solidFill>
                  <a:schemeClr val="lt1"/>
                </a:solidFill>
              </a:rPr>
              <a:t>Challenges:</a:t>
            </a:r>
            <a:endParaRPr sz="1700">
              <a:solidFill>
                <a:schemeClr val="lt1"/>
              </a:solidFill>
            </a:endParaRPr>
          </a:p>
          <a:p>
            <a:pPr indent="-336550" lvl="0" marL="914400" marR="0" rtl="0" algn="just">
              <a:lnSpc>
                <a:spcPct val="100000"/>
              </a:lnSpc>
              <a:spcBef>
                <a:spcPts val="1000"/>
              </a:spcBef>
              <a:spcAft>
                <a:spcPts val="0"/>
              </a:spcAft>
              <a:buClr>
                <a:schemeClr val="lt1"/>
              </a:buClr>
              <a:buSzPts val="1700"/>
              <a:buAutoNum type="arabicPeriod"/>
            </a:pPr>
            <a:r>
              <a:rPr lang="it" sz="1700">
                <a:solidFill>
                  <a:schemeClr val="lt1"/>
                </a:solidFill>
              </a:rPr>
              <a:t>Making sure the page has fully updated at every stage of the filtering process</a:t>
            </a:r>
            <a:endParaRPr sz="1700">
              <a:solidFill>
                <a:schemeClr val="lt1"/>
              </a:solidFill>
            </a:endParaRPr>
          </a:p>
          <a:p>
            <a:pPr indent="-336550" lvl="0" marL="914400" marR="0" rtl="0" algn="just">
              <a:lnSpc>
                <a:spcPct val="100000"/>
              </a:lnSpc>
              <a:spcBef>
                <a:spcPts val="1000"/>
              </a:spcBef>
              <a:spcAft>
                <a:spcPts val="0"/>
              </a:spcAft>
              <a:buClr>
                <a:schemeClr val="lt1"/>
              </a:buClr>
              <a:buSzPts val="1700"/>
              <a:buAutoNum type="arabicPeriod"/>
            </a:pPr>
            <a:r>
              <a:rPr lang="it" sz="1700">
                <a:solidFill>
                  <a:schemeClr val="lt1"/>
                </a:solidFill>
              </a:rPr>
              <a:t>When selecting an option from a dropdown it may happen that the previously selected option is overwritten</a:t>
            </a:r>
            <a:endParaRPr sz="1700">
              <a:solidFill>
                <a:schemeClr val="lt1"/>
              </a:solidFill>
            </a:endParaRPr>
          </a:p>
          <a:p>
            <a:pPr indent="0" lvl="0" marL="0" marR="0" rtl="0" algn="just">
              <a:lnSpc>
                <a:spcPct val="100000"/>
              </a:lnSpc>
              <a:spcBef>
                <a:spcPts val="1000"/>
              </a:spcBef>
              <a:spcAft>
                <a:spcPts val="1000"/>
              </a:spcAft>
              <a:buNone/>
            </a:pPr>
            <a:r>
              <a:t/>
            </a:r>
            <a:endParaRPr sz="1600">
              <a:solidFill>
                <a:schemeClr val="lt1"/>
              </a:solidFill>
            </a:endParaRPr>
          </a:p>
        </p:txBody>
      </p:sp>
      <p:sp>
        <p:nvSpPr>
          <p:cNvPr id="145" name="Google Shape;145;p21"/>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Dynamic Web Scraping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22"/>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51" name="Google Shape;151;p22"/>
          <p:cNvSpPr txBox="1"/>
          <p:nvPr>
            <p:ph idx="4294967295" type="body"/>
          </p:nvPr>
        </p:nvSpPr>
        <p:spPr>
          <a:xfrm>
            <a:off x="25" y="757925"/>
            <a:ext cx="9001200" cy="4538700"/>
          </a:xfrm>
          <a:prstGeom prst="rect">
            <a:avLst/>
          </a:prstGeom>
        </p:spPr>
        <p:txBody>
          <a:bodyPr anchorCtr="0" anchor="t" bIns="91425" lIns="91425" spcFirstLastPara="1" rIns="91425" wrap="square" tIns="91425">
            <a:noAutofit/>
          </a:bodyPr>
          <a:lstStyle/>
          <a:p>
            <a:pPr indent="0" lvl="0" marL="0" marR="0" rtl="0" algn="just">
              <a:lnSpc>
                <a:spcPct val="100000"/>
              </a:lnSpc>
              <a:spcBef>
                <a:spcPts val="1000"/>
              </a:spcBef>
              <a:spcAft>
                <a:spcPts val="0"/>
              </a:spcAft>
              <a:buNone/>
            </a:pPr>
            <a:r>
              <a:t/>
            </a:r>
            <a:endParaRPr sz="1700">
              <a:solidFill>
                <a:schemeClr val="lt1"/>
              </a:solidFill>
            </a:endParaRPr>
          </a:p>
          <a:p>
            <a:pPr indent="0" lvl="0" marL="0" marR="0" rtl="0" algn="just">
              <a:lnSpc>
                <a:spcPct val="100000"/>
              </a:lnSpc>
              <a:spcBef>
                <a:spcPts val="1500"/>
              </a:spcBef>
              <a:spcAft>
                <a:spcPts val="0"/>
              </a:spcAft>
              <a:buNone/>
            </a:pPr>
            <a:r>
              <a:rPr lang="it" sz="1700">
                <a:solidFill>
                  <a:schemeClr val="lt1"/>
                </a:solidFill>
              </a:rPr>
              <a:t>	</a:t>
            </a:r>
            <a:r>
              <a:rPr b="1" lang="it">
                <a:solidFill>
                  <a:schemeClr val="lt1"/>
                </a:solidFill>
              </a:rPr>
              <a:t>Solutions:</a:t>
            </a:r>
            <a:endParaRPr b="1">
              <a:solidFill>
                <a:schemeClr val="lt1"/>
              </a:solidFill>
            </a:endParaRPr>
          </a:p>
          <a:p>
            <a:pPr indent="0" lvl="0" marL="0" marR="0" rtl="0" algn="just">
              <a:lnSpc>
                <a:spcPct val="100000"/>
              </a:lnSpc>
              <a:spcBef>
                <a:spcPts val="1500"/>
              </a:spcBef>
              <a:spcAft>
                <a:spcPts val="0"/>
              </a:spcAft>
              <a:buNone/>
            </a:pPr>
            <a:r>
              <a:t/>
            </a:r>
            <a:endParaRPr b="1">
              <a:solidFill>
                <a:schemeClr val="lt1"/>
              </a:solidFill>
            </a:endParaRPr>
          </a:p>
          <a:p>
            <a:pPr indent="-336550" lvl="0" marL="914400" marR="0" rtl="0" algn="just">
              <a:lnSpc>
                <a:spcPct val="100000"/>
              </a:lnSpc>
              <a:spcBef>
                <a:spcPts val="1000"/>
              </a:spcBef>
              <a:spcAft>
                <a:spcPts val="0"/>
              </a:spcAft>
              <a:buClr>
                <a:schemeClr val="lt1"/>
              </a:buClr>
              <a:buSzPts val="1700"/>
              <a:buAutoNum type="arabicPeriod"/>
            </a:pPr>
            <a:r>
              <a:rPr lang="it" sz="1700">
                <a:solidFill>
                  <a:schemeClr val="lt1"/>
                </a:solidFill>
              </a:rPr>
              <a:t>For the page to be fully updated and ready for the next phase, the following conditions must be met:</a:t>
            </a:r>
            <a:endParaRPr sz="1700">
              <a:solidFill>
                <a:schemeClr val="lt1"/>
              </a:solidFill>
            </a:endParaRPr>
          </a:p>
          <a:p>
            <a:pPr indent="-330200" lvl="1" marL="1371600" marR="0" rtl="0" algn="just">
              <a:lnSpc>
                <a:spcPct val="100000"/>
              </a:lnSpc>
              <a:spcBef>
                <a:spcPts val="1000"/>
              </a:spcBef>
              <a:spcAft>
                <a:spcPts val="0"/>
              </a:spcAft>
              <a:buClr>
                <a:schemeClr val="lt1"/>
              </a:buClr>
              <a:buSzPts val="1600"/>
              <a:buChar char="○"/>
            </a:pPr>
            <a:r>
              <a:rPr lang="it" sz="1600">
                <a:solidFill>
                  <a:schemeClr val="lt1"/>
                </a:solidFill>
              </a:rPr>
              <a:t>wait for the dropdown to be clickable</a:t>
            </a:r>
            <a:endParaRPr sz="1600">
              <a:solidFill>
                <a:schemeClr val="lt1"/>
              </a:solidFill>
            </a:endParaRPr>
          </a:p>
          <a:p>
            <a:pPr indent="-330200" lvl="1" marL="1371600" rtl="0" algn="just">
              <a:lnSpc>
                <a:spcPct val="100000"/>
              </a:lnSpc>
              <a:spcBef>
                <a:spcPts val="0"/>
              </a:spcBef>
              <a:spcAft>
                <a:spcPts val="0"/>
              </a:spcAft>
              <a:buClr>
                <a:schemeClr val="lt1"/>
              </a:buClr>
              <a:buSzPts val="1600"/>
              <a:buChar char="○"/>
            </a:pPr>
            <a:r>
              <a:rPr lang="it" sz="1600">
                <a:solidFill>
                  <a:schemeClr val="lt1"/>
                </a:solidFill>
              </a:rPr>
              <a:t>wait for the number of records on the top left corner of the page to change</a:t>
            </a:r>
            <a:endParaRPr sz="1600">
              <a:solidFill>
                <a:schemeClr val="lt1"/>
              </a:solidFill>
            </a:endParaRPr>
          </a:p>
        </p:txBody>
      </p:sp>
      <p:sp>
        <p:nvSpPr>
          <p:cNvPr id="152" name="Google Shape;152;p22"/>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Dynamic Web Scraping</a:t>
            </a:r>
            <a:endParaRPr/>
          </a:p>
        </p:txBody>
      </p:sp>
      <p:pic>
        <p:nvPicPr>
          <p:cNvPr id="153" name="Google Shape;153;p22" title="last-pic.png"/>
          <p:cNvPicPr preferRelativeResize="0"/>
          <p:nvPr/>
        </p:nvPicPr>
        <p:blipFill>
          <a:blip r:embed="rId3">
            <a:alphaModFix/>
          </a:blip>
          <a:stretch>
            <a:fillRect/>
          </a:stretch>
        </p:blipFill>
        <p:spPr>
          <a:xfrm>
            <a:off x="2419375" y="3854263"/>
            <a:ext cx="4305300" cy="238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23"/>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59" name="Google Shape;159;p23"/>
          <p:cNvSpPr txBox="1"/>
          <p:nvPr>
            <p:ph idx="4294967295" type="body"/>
          </p:nvPr>
        </p:nvSpPr>
        <p:spPr>
          <a:xfrm>
            <a:off x="0" y="1058100"/>
            <a:ext cx="9144000" cy="4200000"/>
          </a:xfrm>
          <a:prstGeom prst="rect">
            <a:avLst/>
          </a:prstGeom>
        </p:spPr>
        <p:txBody>
          <a:bodyPr anchorCtr="0" anchor="t" bIns="91425" lIns="91425" spcFirstLastPara="1" rIns="91425" wrap="square" tIns="91425">
            <a:noAutofit/>
          </a:bodyPr>
          <a:lstStyle/>
          <a:p>
            <a:pPr indent="0" lvl="0" marL="0" marR="0" rtl="0" algn="l">
              <a:lnSpc>
                <a:spcPct val="100000"/>
              </a:lnSpc>
              <a:spcBef>
                <a:spcPts val="1000"/>
              </a:spcBef>
              <a:spcAft>
                <a:spcPts val="0"/>
              </a:spcAft>
              <a:buNone/>
            </a:pPr>
            <a:r>
              <a:t/>
            </a:r>
            <a:endParaRPr b="1" sz="1700">
              <a:solidFill>
                <a:schemeClr val="lt1"/>
              </a:solidFill>
            </a:endParaRPr>
          </a:p>
          <a:p>
            <a:pPr indent="0" lvl="0" marL="457200" marR="0" rtl="0" algn="l">
              <a:lnSpc>
                <a:spcPct val="100000"/>
              </a:lnSpc>
              <a:spcBef>
                <a:spcPts val="1000"/>
              </a:spcBef>
              <a:spcAft>
                <a:spcPts val="0"/>
              </a:spcAft>
              <a:buNone/>
            </a:pPr>
            <a:r>
              <a:rPr b="1" lang="it" sz="1700">
                <a:solidFill>
                  <a:schemeClr val="lt1"/>
                </a:solidFill>
              </a:rPr>
              <a:t>2.</a:t>
            </a:r>
            <a:r>
              <a:rPr lang="it" sz="1700">
                <a:solidFill>
                  <a:schemeClr val="lt1"/>
                </a:solidFill>
              </a:rPr>
              <a:t>	At the very last stages of the filtering process the previously used methods are not</a:t>
            </a:r>
            <a:endParaRPr sz="1700">
              <a:solidFill>
                <a:schemeClr val="lt1"/>
              </a:solidFill>
            </a:endParaRPr>
          </a:p>
          <a:p>
            <a:pPr indent="457200" lvl="0" marL="457200" marR="0" rtl="0" algn="l">
              <a:lnSpc>
                <a:spcPct val="100000"/>
              </a:lnSpc>
              <a:spcBef>
                <a:spcPts val="300"/>
              </a:spcBef>
              <a:spcAft>
                <a:spcPts val="0"/>
              </a:spcAft>
              <a:buNone/>
            </a:pPr>
            <a:r>
              <a:rPr lang="it" sz="1700">
                <a:solidFill>
                  <a:schemeClr val="lt1"/>
                </a:solidFill>
              </a:rPr>
              <a:t>useful because the option selection doesn’t stuck when the page updates</a:t>
            </a:r>
            <a:r>
              <a:rPr lang="it" sz="1700">
                <a:solidFill>
                  <a:schemeClr val="lt1"/>
                </a:solidFill>
              </a:rPr>
              <a:t>.</a:t>
            </a:r>
            <a:endParaRPr sz="1700">
              <a:solidFill>
                <a:schemeClr val="lt1"/>
              </a:solidFill>
            </a:endParaRPr>
          </a:p>
          <a:p>
            <a:pPr indent="0" lvl="0" marL="457200" marR="0" rtl="0" algn="l">
              <a:lnSpc>
                <a:spcPct val="100000"/>
              </a:lnSpc>
              <a:spcBef>
                <a:spcPts val="300"/>
              </a:spcBef>
              <a:spcAft>
                <a:spcPts val="0"/>
              </a:spcAft>
              <a:buNone/>
            </a:pPr>
            <a:r>
              <a:rPr lang="it" sz="1700">
                <a:solidFill>
                  <a:schemeClr val="lt1"/>
                </a:solidFill>
              </a:rPr>
              <a:t> 	So, before the selection of the next dropdown, we are going to verify that: </a:t>
            </a:r>
            <a:endParaRPr sz="1700">
              <a:solidFill>
                <a:schemeClr val="lt1"/>
              </a:solidFill>
            </a:endParaRPr>
          </a:p>
          <a:p>
            <a:pPr indent="-330200" lvl="0" marL="1371600" marR="0" rtl="0" algn="l">
              <a:lnSpc>
                <a:spcPct val="100000"/>
              </a:lnSpc>
              <a:spcBef>
                <a:spcPts val="1000"/>
              </a:spcBef>
              <a:spcAft>
                <a:spcPts val="0"/>
              </a:spcAft>
              <a:buClr>
                <a:schemeClr val="lt1"/>
              </a:buClr>
              <a:buSzPts val="1600"/>
              <a:buChar char="○"/>
            </a:pPr>
            <a:r>
              <a:rPr lang="it" sz="1600">
                <a:solidFill>
                  <a:schemeClr val="lt1"/>
                </a:solidFill>
              </a:rPr>
              <a:t>the previously selected dropdown is present on the updated page</a:t>
            </a:r>
            <a:endParaRPr sz="1600">
              <a:solidFill>
                <a:schemeClr val="lt1"/>
              </a:solidFill>
            </a:endParaRPr>
          </a:p>
          <a:p>
            <a:pPr indent="-330200" lvl="0" marL="1371600" marR="0" rtl="0" algn="l">
              <a:lnSpc>
                <a:spcPct val="100000"/>
              </a:lnSpc>
              <a:spcBef>
                <a:spcPts val="300"/>
              </a:spcBef>
              <a:spcAft>
                <a:spcPts val="0"/>
              </a:spcAft>
              <a:buClr>
                <a:schemeClr val="lt1"/>
              </a:buClr>
              <a:buSzPts val="1600"/>
              <a:buChar char="○"/>
            </a:pPr>
            <a:r>
              <a:rPr lang="it" sz="1600">
                <a:solidFill>
                  <a:schemeClr val="lt1"/>
                </a:solidFill>
              </a:rPr>
              <a:t>the previously selected option stuck</a:t>
            </a:r>
            <a:endParaRPr sz="1600">
              <a:solidFill>
                <a:schemeClr val="lt1"/>
              </a:solidFill>
            </a:endParaRPr>
          </a:p>
          <a:p>
            <a:pPr indent="0" lvl="0" marL="0" marR="0" rtl="0" algn="l">
              <a:lnSpc>
                <a:spcPct val="100000"/>
              </a:lnSpc>
              <a:spcBef>
                <a:spcPts val="1000"/>
              </a:spcBef>
              <a:spcAft>
                <a:spcPts val="0"/>
              </a:spcAft>
              <a:buNone/>
            </a:pPr>
            <a:r>
              <a:rPr lang="it" sz="1600">
                <a:solidFill>
                  <a:schemeClr val="lt1"/>
                </a:solidFill>
              </a:rPr>
              <a:t>	</a:t>
            </a:r>
            <a:endParaRPr sz="1600">
              <a:solidFill>
                <a:schemeClr val="lt1"/>
              </a:solidFill>
            </a:endParaRPr>
          </a:p>
          <a:p>
            <a:pPr indent="457200" lvl="0" marL="0" marR="0" rtl="0" algn="l">
              <a:lnSpc>
                <a:spcPct val="100000"/>
              </a:lnSpc>
              <a:spcBef>
                <a:spcPts val="1000"/>
              </a:spcBef>
              <a:spcAft>
                <a:spcPts val="0"/>
              </a:spcAft>
              <a:buNone/>
            </a:pPr>
            <a:r>
              <a:rPr lang="it" sz="1700">
                <a:solidFill>
                  <a:schemeClr val="lt1"/>
                </a:solidFill>
              </a:rPr>
              <a:t>The data collected is stored in Pandas Data Frames and is now ready for validation </a:t>
            </a:r>
            <a:endParaRPr sz="1700">
              <a:solidFill>
                <a:schemeClr val="lt1"/>
              </a:solidFill>
            </a:endParaRPr>
          </a:p>
          <a:p>
            <a:pPr indent="457200" lvl="0" marL="0" marR="0" rtl="0" algn="l">
              <a:lnSpc>
                <a:spcPct val="100000"/>
              </a:lnSpc>
              <a:spcBef>
                <a:spcPts val="500"/>
              </a:spcBef>
              <a:spcAft>
                <a:spcPts val="500"/>
              </a:spcAft>
              <a:buNone/>
            </a:pPr>
            <a:r>
              <a:rPr lang="it" sz="1700">
                <a:solidFill>
                  <a:schemeClr val="lt1"/>
                </a:solidFill>
              </a:rPr>
              <a:t>and to be loaded into BigQuery.</a:t>
            </a:r>
            <a:endParaRPr sz="1700">
              <a:solidFill>
                <a:schemeClr val="lt1"/>
              </a:solidFill>
            </a:endParaRPr>
          </a:p>
        </p:txBody>
      </p:sp>
      <p:sp>
        <p:nvSpPr>
          <p:cNvPr id="160" name="Google Shape;160;p23"/>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Dynamic Web Scraping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Data Loading &amp; Transformation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WHAT HAS BEEN PERFORMED</a:t>
            </a:r>
            <a:endParaRPr/>
          </a:p>
        </p:txBody>
      </p:sp>
      <p:sp>
        <p:nvSpPr>
          <p:cNvPr id="171" name="Google Shape;171;p25"/>
          <p:cNvSpPr txBox="1"/>
          <p:nvPr>
            <p:ph idx="2" type="body"/>
          </p:nvPr>
        </p:nvSpPr>
        <p:spPr>
          <a:xfrm>
            <a:off x="4939500" y="594100"/>
            <a:ext cx="3837000" cy="4022400"/>
          </a:xfrm>
          <a:prstGeom prst="rect">
            <a:avLst/>
          </a:prstGeom>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b="1" lang="it"/>
              <a:t>Database Configuration:</a:t>
            </a:r>
            <a:r>
              <a:rPr b="1" lang="it"/>
              <a:t> </a:t>
            </a:r>
            <a:r>
              <a:rPr lang="it"/>
              <a:t>Configure BigQuery to </a:t>
            </a:r>
            <a:r>
              <a:rPr lang="it"/>
              <a:t>receive</a:t>
            </a:r>
            <a:r>
              <a:rPr lang="it"/>
              <a:t> data via an API Client</a:t>
            </a:r>
            <a:r>
              <a:rPr lang="it"/>
              <a:t>.</a:t>
            </a:r>
            <a:endParaRPr/>
          </a:p>
          <a:p>
            <a:pPr indent="-342900" lvl="0" marL="457200" rtl="0" algn="l">
              <a:lnSpc>
                <a:spcPct val="100000"/>
              </a:lnSpc>
              <a:spcBef>
                <a:spcPts val="1000"/>
              </a:spcBef>
              <a:spcAft>
                <a:spcPts val="1000"/>
              </a:spcAft>
              <a:buSzPts val="1800"/>
              <a:buChar char="●"/>
            </a:pPr>
            <a:r>
              <a:rPr b="1" lang="it"/>
              <a:t>Feature Engineering:</a:t>
            </a:r>
            <a:r>
              <a:rPr b="1" lang="it"/>
              <a:t> </a:t>
            </a:r>
            <a:r>
              <a:rPr lang="it"/>
              <a:t>Performing calculations on tables to create new, useful attributes for analysis</a:t>
            </a:r>
            <a:r>
              <a:rPr lang="it"/>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26"/>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77" name="Google Shape;177;p26"/>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Why BigQuery?</a:t>
            </a:r>
            <a:endParaRPr/>
          </a:p>
        </p:txBody>
      </p:sp>
      <p:sp>
        <p:nvSpPr>
          <p:cNvPr id="178" name="Google Shape;178;p26"/>
          <p:cNvSpPr txBox="1"/>
          <p:nvPr>
            <p:ph idx="4294967295" type="body"/>
          </p:nvPr>
        </p:nvSpPr>
        <p:spPr>
          <a:xfrm>
            <a:off x="580525" y="1384525"/>
            <a:ext cx="7983000" cy="3357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Char char="●"/>
            </a:pPr>
            <a:r>
              <a:rPr b="1" lang="it">
                <a:solidFill>
                  <a:schemeClr val="lt1"/>
                </a:solidFill>
              </a:rPr>
              <a:t>Remote Access</a:t>
            </a:r>
            <a:r>
              <a:rPr b="1" lang="it">
                <a:solidFill>
                  <a:schemeClr val="lt1"/>
                </a:solidFill>
              </a:rPr>
              <a:t>: </a:t>
            </a:r>
            <a:endParaRPr b="1">
              <a:solidFill>
                <a:schemeClr val="lt1"/>
              </a:solidFill>
            </a:endParaRPr>
          </a:p>
          <a:p>
            <a:pPr indent="-330200" lvl="1" marL="914400" rtl="0" algn="l">
              <a:lnSpc>
                <a:spcPct val="100000"/>
              </a:lnSpc>
              <a:spcBef>
                <a:spcPts val="1000"/>
              </a:spcBef>
              <a:spcAft>
                <a:spcPts val="0"/>
              </a:spcAft>
              <a:buClr>
                <a:schemeClr val="lt1"/>
              </a:buClr>
              <a:buSzPts val="1600"/>
              <a:buChar char="○"/>
            </a:pPr>
            <a:r>
              <a:rPr lang="it" sz="1600">
                <a:solidFill>
                  <a:schemeClr val="lt1"/>
                </a:solidFill>
              </a:rPr>
              <a:t>BigQuery makes it easy for each member to access the data repository without the need for a local datastore on any one workstation</a:t>
            </a:r>
            <a:endParaRPr sz="1600">
              <a:solidFill>
                <a:schemeClr val="lt1"/>
              </a:solidFill>
            </a:endParaRPr>
          </a:p>
          <a:p>
            <a:pPr indent="-342900" lvl="0" marL="457200" rtl="0" algn="l">
              <a:lnSpc>
                <a:spcPct val="100000"/>
              </a:lnSpc>
              <a:spcBef>
                <a:spcPts val="1000"/>
              </a:spcBef>
              <a:spcAft>
                <a:spcPts val="0"/>
              </a:spcAft>
              <a:buClr>
                <a:schemeClr val="lt1"/>
              </a:buClr>
              <a:buSzPts val="1800"/>
              <a:buChar char="●"/>
            </a:pPr>
            <a:r>
              <a:rPr b="1" lang="it">
                <a:solidFill>
                  <a:schemeClr val="lt1"/>
                </a:solidFill>
              </a:rPr>
              <a:t>Mature Package Ecosystem</a:t>
            </a:r>
            <a:r>
              <a:rPr b="1" lang="it">
                <a:solidFill>
                  <a:schemeClr val="lt1"/>
                </a:solidFill>
              </a:rPr>
              <a:t>:</a:t>
            </a:r>
            <a:r>
              <a:rPr lang="it">
                <a:solidFill>
                  <a:schemeClr val="lt1"/>
                </a:solidFill>
              </a:rPr>
              <a:t> </a:t>
            </a:r>
            <a:endParaRPr>
              <a:solidFill>
                <a:schemeClr val="lt1"/>
              </a:solidFill>
            </a:endParaRPr>
          </a:p>
          <a:p>
            <a:pPr indent="-330200" lvl="1" marL="914400" rtl="0" algn="l">
              <a:lnSpc>
                <a:spcPct val="100000"/>
              </a:lnSpc>
              <a:spcBef>
                <a:spcPts val="1000"/>
              </a:spcBef>
              <a:spcAft>
                <a:spcPts val="0"/>
              </a:spcAft>
              <a:buClr>
                <a:schemeClr val="lt1"/>
              </a:buClr>
              <a:buSzPts val="1600"/>
              <a:buChar char="○"/>
            </a:pPr>
            <a:r>
              <a:rPr lang="it" sz="1600">
                <a:solidFill>
                  <a:schemeClr val="lt1"/>
                </a:solidFill>
              </a:rPr>
              <a:t>The wide adoption and use of BigQuery means that there are many tried and tested API packages available</a:t>
            </a:r>
            <a:endParaRPr sz="1600">
              <a:solidFill>
                <a:schemeClr val="lt1"/>
              </a:solidFill>
            </a:endParaRPr>
          </a:p>
          <a:p>
            <a:pPr indent="-330200" lvl="1" marL="914400" rtl="0" algn="l">
              <a:lnSpc>
                <a:spcPct val="100000"/>
              </a:lnSpc>
              <a:spcBef>
                <a:spcPts val="1000"/>
              </a:spcBef>
              <a:spcAft>
                <a:spcPts val="1000"/>
              </a:spcAft>
              <a:buClr>
                <a:schemeClr val="lt1"/>
              </a:buClr>
              <a:buSzPts val="1600"/>
              <a:buChar char="○"/>
            </a:pPr>
            <a:r>
              <a:rPr lang="it" sz="1600">
                <a:solidFill>
                  <a:schemeClr val="lt1"/>
                </a:solidFill>
              </a:rPr>
              <a:t>This makes it relatively easy to connect to our data regardless of the tooling (Python, dbt or other)</a:t>
            </a:r>
            <a:endParaRPr sz="16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27"/>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84" name="Google Shape;184;p27"/>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Database Configuration</a:t>
            </a:r>
            <a:endParaRPr/>
          </a:p>
        </p:txBody>
      </p:sp>
      <p:sp>
        <p:nvSpPr>
          <p:cNvPr id="185" name="Google Shape;185;p27"/>
          <p:cNvSpPr txBox="1"/>
          <p:nvPr>
            <p:ph idx="4294967295" type="body"/>
          </p:nvPr>
        </p:nvSpPr>
        <p:spPr>
          <a:xfrm>
            <a:off x="580525" y="1384525"/>
            <a:ext cx="7983000" cy="3357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Char char="●"/>
            </a:pPr>
            <a:r>
              <a:rPr b="1" lang="it">
                <a:solidFill>
                  <a:schemeClr val="lt1"/>
                </a:solidFill>
              </a:rPr>
              <a:t>Project Sandboxing</a:t>
            </a:r>
            <a:r>
              <a:rPr b="1" lang="it">
                <a:solidFill>
                  <a:schemeClr val="lt1"/>
                </a:solidFill>
              </a:rPr>
              <a:t>: </a:t>
            </a:r>
            <a:endParaRPr b="1">
              <a:solidFill>
                <a:schemeClr val="lt1"/>
              </a:solidFill>
            </a:endParaRPr>
          </a:p>
          <a:p>
            <a:pPr indent="-317500" lvl="1" marL="914400" rtl="0" algn="l">
              <a:lnSpc>
                <a:spcPct val="100000"/>
              </a:lnSpc>
              <a:spcBef>
                <a:spcPts val="1000"/>
              </a:spcBef>
              <a:spcAft>
                <a:spcPts val="0"/>
              </a:spcAft>
              <a:buClr>
                <a:schemeClr val="lt1"/>
              </a:buClr>
              <a:buSzPts val="1400"/>
              <a:buChar char="○"/>
            </a:pPr>
            <a:r>
              <a:rPr lang="it" sz="1600">
                <a:solidFill>
                  <a:schemeClr val="lt1"/>
                </a:solidFill>
              </a:rPr>
              <a:t>To prevent undue charges using the Google Cloud Platform, where BigQuery is hosted, we made use of a </a:t>
            </a:r>
            <a:r>
              <a:rPr b="1" lang="it" sz="1600">
                <a:solidFill>
                  <a:schemeClr val="lt1"/>
                </a:solidFill>
              </a:rPr>
              <a:t>Sandbox</a:t>
            </a:r>
            <a:r>
              <a:rPr lang="it" sz="1600">
                <a:solidFill>
                  <a:schemeClr val="lt1"/>
                </a:solidFill>
              </a:rPr>
              <a:t> </a:t>
            </a:r>
            <a:r>
              <a:rPr b="1" lang="it" sz="1600">
                <a:solidFill>
                  <a:schemeClr val="lt1"/>
                </a:solidFill>
              </a:rPr>
              <a:t>Environment</a:t>
            </a:r>
            <a:endParaRPr sz="1600">
              <a:solidFill>
                <a:schemeClr val="lt1"/>
              </a:solidFill>
            </a:endParaRPr>
          </a:p>
          <a:p>
            <a:pPr indent="-330200" lvl="1" marL="914400" rtl="0" algn="l">
              <a:lnSpc>
                <a:spcPct val="100000"/>
              </a:lnSpc>
              <a:spcBef>
                <a:spcPts val="1000"/>
              </a:spcBef>
              <a:spcAft>
                <a:spcPts val="0"/>
              </a:spcAft>
              <a:buClr>
                <a:schemeClr val="lt1"/>
              </a:buClr>
              <a:buSzPts val="1600"/>
              <a:buChar char="○"/>
            </a:pPr>
            <a:r>
              <a:rPr lang="it" sz="1600">
                <a:solidFill>
                  <a:schemeClr val="lt1"/>
                </a:solidFill>
              </a:rPr>
              <a:t>Though limited in computing, this setup allows for enough storage and resources to run our project</a:t>
            </a:r>
            <a:endParaRPr sz="1600">
              <a:solidFill>
                <a:schemeClr val="lt1"/>
              </a:solidFill>
            </a:endParaRPr>
          </a:p>
          <a:p>
            <a:pPr indent="-342900" lvl="0" marL="457200" rtl="0" algn="l">
              <a:lnSpc>
                <a:spcPct val="100000"/>
              </a:lnSpc>
              <a:spcBef>
                <a:spcPts val="1000"/>
              </a:spcBef>
              <a:spcAft>
                <a:spcPts val="0"/>
              </a:spcAft>
              <a:buClr>
                <a:schemeClr val="lt1"/>
              </a:buClr>
              <a:buSzPts val="1800"/>
              <a:buChar char="●"/>
            </a:pPr>
            <a:r>
              <a:rPr b="1" lang="it">
                <a:solidFill>
                  <a:schemeClr val="lt1"/>
                </a:solidFill>
              </a:rPr>
              <a:t>Service Account</a:t>
            </a:r>
            <a:r>
              <a:rPr b="1" lang="it">
                <a:solidFill>
                  <a:schemeClr val="lt1"/>
                </a:solidFill>
              </a:rPr>
              <a:t>:</a:t>
            </a:r>
            <a:r>
              <a:rPr lang="it">
                <a:solidFill>
                  <a:schemeClr val="lt1"/>
                </a:solidFill>
              </a:rPr>
              <a:t> </a:t>
            </a:r>
            <a:endParaRPr>
              <a:solidFill>
                <a:schemeClr val="lt1"/>
              </a:solidFill>
            </a:endParaRPr>
          </a:p>
          <a:p>
            <a:pPr indent="-317500" lvl="1" marL="914400" rtl="0" algn="l">
              <a:lnSpc>
                <a:spcPct val="100000"/>
              </a:lnSpc>
              <a:spcBef>
                <a:spcPts val="1000"/>
              </a:spcBef>
              <a:spcAft>
                <a:spcPts val="0"/>
              </a:spcAft>
              <a:buClr>
                <a:schemeClr val="lt1"/>
              </a:buClr>
              <a:buSzPts val="1400"/>
              <a:buChar char="○"/>
            </a:pPr>
            <a:r>
              <a:rPr lang="it" sz="1600">
                <a:solidFill>
                  <a:schemeClr val="lt1"/>
                </a:solidFill>
              </a:rPr>
              <a:t>A service account was provisioned for our project to allow us to make </a:t>
            </a:r>
            <a:r>
              <a:rPr b="1" lang="it" sz="1600">
                <a:solidFill>
                  <a:schemeClr val="lt1"/>
                </a:solidFill>
              </a:rPr>
              <a:t>authorized API Calls</a:t>
            </a:r>
            <a:r>
              <a:rPr lang="it" sz="1600">
                <a:solidFill>
                  <a:schemeClr val="lt1"/>
                </a:solidFill>
              </a:rPr>
              <a:t> from our scripts to our database</a:t>
            </a:r>
            <a:endParaRPr sz="1600">
              <a:solidFill>
                <a:schemeClr val="lt1"/>
              </a:solidFill>
            </a:endParaRPr>
          </a:p>
          <a:p>
            <a:pPr indent="-330200" lvl="1" marL="914400" rtl="0" algn="l">
              <a:lnSpc>
                <a:spcPct val="100000"/>
              </a:lnSpc>
              <a:spcBef>
                <a:spcPts val="1000"/>
              </a:spcBef>
              <a:spcAft>
                <a:spcPts val="1000"/>
              </a:spcAft>
              <a:buClr>
                <a:schemeClr val="lt1"/>
              </a:buClr>
              <a:buSzPts val="1600"/>
              <a:buChar char="○"/>
            </a:pPr>
            <a:r>
              <a:rPr lang="it" sz="1600">
                <a:solidFill>
                  <a:schemeClr val="lt1"/>
                </a:solidFill>
              </a:rPr>
              <a:t>A service key is included as a physical JSON file in our project directory</a:t>
            </a:r>
            <a:endParaRPr sz="16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28"/>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91" name="Google Shape;191;p28"/>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Database Transformation</a:t>
            </a:r>
            <a:endParaRPr/>
          </a:p>
        </p:txBody>
      </p:sp>
      <p:sp>
        <p:nvSpPr>
          <p:cNvPr id="192" name="Google Shape;192;p28"/>
          <p:cNvSpPr txBox="1"/>
          <p:nvPr>
            <p:ph idx="4294967295" type="body"/>
          </p:nvPr>
        </p:nvSpPr>
        <p:spPr>
          <a:xfrm>
            <a:off x="2698625" y="1384525"/>
            <a:ext cx="6265800" cy="3357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Char char="●"/>
            </a:pPr>
            <a:r>
              <a:rPr b="1" lang="it">
                <a:solidFill>
                  <a:schemeClr val="lt1"/>
                </a:solidFill>
              </a:rPr>
              <a:t>Raw Data</a:t>
            </a:r>
            <a:r>
              <a:rPr b="1" lang="it">
                <a:solidFill>
                  <a:schemeClr val="lt1"/>
                </a:solidFill>
              </a:rPr>
              <a:t>: </a:t>
            </a:r>
            <a:endParaRPr b="1">
              <a:solidFill>
                <a:schemeClr val="lt1"/>
              </a:solidFill>
            </a:endParaRPr>
          </a:p>
          <a:p>
            <a:pPr indent="-330200" lvl="1" marL="914400" rtl="0" algn="l">
              <a:lnSpc>
                <a:spcPct val="100000"/>
              </a:lnSpc>
              <a:spcBef>
                <a:spcPts val="1000"/>
              </a:spcBef>
              <a:spcAft>
                <a:spcPts val="0"/>
              </a:spcAft>
              <a:buClr>
                <a:schemeClr val="lt1"/>
              </a:buClr>
              <a:buSzPts val="1600"/>
              <a:buChar char="○"/>
            </a:pPr>
            <a:r>
              <a:rPr lang="it" sz="1600">
                <a:solidFill>
                  <a:schemeClr val="lt1"/>
                </a:solidFill>
              </a:rPr>
              <a:t>The initial raw tables taken from each of our data sources are stored under the </a:t>
            </a:r>
            <a:r>
              <a:rPr b="1" lang="it" sz="1600">
                <a:solidFill>
                  <a:schemeClr val="lt1"/>
                </a:solidFill>
              </a:rPr>
              <a:t>us_corn_data </a:t>
            </a:r>
            <a:r>
              <a:rPr lang="it" sz="1600">
                <a:solidFill>
                  <a:schemeClr val="lt1"/>
                </a:solidFill>
              </a:rPr>
              <a:t>dataset</a:t>
            </a:r>
            <a:endParaRPr sz="1600">
              <a:solidFill>
                <a:schemeClr val="lt1"/>
              </a:solidFill>
            </a:endParaRPr>
          </a:p>
          <a:p>
            <a:pPr indent="-342900" lvl="0" marL="457200" rtl="0" algn="l">
              <a:lnSpc>
                <a:spcPct val="100000"/>
              </a:lnSpc>
              <a:spcBef>
                <a:spcPts val="1000"/>
              </a:spcBef>
              <a:spcAft>
                <a:spcPts val="0"/>
              </a:spcAft>
              <a:buClr>
                <a:schemeClr val="lt1"/>
              </a:buClr>
              <a:buSzPts val="1800"/>
              <a:buChar char="●"/>
            </a:pPr>
            <a:r>
              <a:rPr b="1" lang="it">
                <a:solidFill>
                  <a:schemeClr val="lt1"/>
                </a:solidFill>
              </a:rPr>
              <a:t>Transformed Data</a:t>
            </a:r>
            <a:r>
              <a:rPr b="1" lang="it">
                <a:solidFill>
                  <a:schemeClr val="lt1"/>
                </a:solidFill>
              </a:rPr>
              <a:t>:</a:t>
            </a:r>
            <a:r>
              <a:rPr lang="it">
                <a:solidFill>
                  <a:schemeClr val="lt1"/>
                </a:solidFill>
              </a:rPr>
              <a:t> </a:t>
            </a:r>
            <a:endParaRPr>
              <a:solidFill>
                <a:schemeClr val="lt1"/>
              </a:solidFill>
            </a:endParaRPr>
          </a:p>
          <a:p>
            <a:pPr indent="-330200" lvl="1" marL="914400" rtl="0" algn="l">
              <a:lnSpc>
                <a:spcPct val="100000"/>
              </a:lnSpc>
              <a:spcBef>
                <a:spcPts val="1000"/>
              </a:spcBef>
              <a:spcAft>
                <a:spcPts val="0"/>
              </a:spcAft>
              <a:buClr>
                <a:schemeClr val="lt1"/>
              </a:buClr>
              <a:buSzPts val="1600"/>
              <a:buChar char="○"/>
            </a:pPr>
            <a:r>
              <a:rPr lang="it" sz="1600">
                <a:solidFill>
                  <a:schemeClr val="lt1"/>
                </a:solidFill>
              </a:rPr>
              <a:t>Transformed data is found under </a:t>
            </a:r>
            <a:r>
              <a:rPr b="1" lang="it" sz="1600">
                <a:solidFill>
                  <a:schemeClr val="lt1"/>
                </a:solidFill>
              </a:rPr>
              <a:t>us_corn_data_transformed, </a:t>
            </a:r>
            <a:r>
              <a:rPr lang="it" sz="1600">
                <a:solidFill>
                  <a:schemeClr val="lt1"/>
                </a:solidFill>
              </a:rPr>
              <a:t>with each cleaned table stored in a staging table (</a:t>
            </a:r>
            <a:r>
              <a:rPr b="1" lang="it" sz="1600">
                <a:solidFill>
                  <a:schemeClr val="lt1"/>
                </a:solidFill>
              </a:rPr>
              <a:t>stg_corn</a:t>
            </a:r>
            <a:r>
              <a:rPr lang="it" sz="1600">
                <a:solidFill>
                  <a:schemeClr val="lt1"/>
                </a:solidFill>
              </a:rPr>
              <a:t>)</a:t>
            </a:r>
            <a:endParaRPr sz="1600">
              <a:solidFill>
                <a:schemeClr val="lt1"/>
              </a:solidFill>
            </a:endParaRPr>
          </a:p>
          <a:p>
            <a:pPr indent="-330200" lvl="1" marL="914400" rtl="0" algn="l">
              <a:lnSpc>
                <a:spcPct val="100000"/>
              </a:lnSpc>
              <a:spcBef>
                <a:spcPts val="1000"/>
              </a:spcBef>
              <a:spcAft>
                <a:spcPts val="0"/>
              </a:spcAft>
              <a:buClr>
                <a:schemeClr val="lt1"/>
              </a:buClr>
              <a:buSzPts val="1600"/>
              <a:buChar char="○"/>
            </a:pPr>
            <a:r>
              <a:rPr lang="it" sz="1600">
                <a:solidFill>
                  <a:schemeClr val="lt1"/>
                </a:solidFill>
              </a:rPr>
              <a:t>This process allows each staged table to be cleaned individually, simplifying the SQL queries needed</a:t>
            </a:r>
            <a:endParaRPr sz="1600">
              <a:solidFill>
                <a:schemeClr val="lt1"/>
              </a:solidFill>
            </a:endParaRPr>
          </a:p>
          <a:p>
            <a:pPr indent="-330200" lvl="1" marL="914400" rtl="0" algn="l">
              <a:lnSpc>
                <a:spcPct val="100000"/>
              </a:lnSpc>
              <a:spcBef>
                <a:spcPts val="1000"/>
              </a:spcBef>
              <a:spcAft>
                <a:spcPts val="1000"/>
              </a:spcAft>
              <a:buClr>
                <a:schemeClr val="lt1"/>
              </a:buClr>
              <a:buSzPts val="1600"/>
              <a:buChar char="○"/>
            </a:pPr>
            <a:r>
              <a:rPr lang="it" sz="1600">
                <a:solidFill>
                  <a:schemeClr val="lt1"/>
                </a:solidFill>
              </a:rPr>
              <a:t>The final </a:t>
            </a:r>
            <a:r>
              <a:rPr b="1" lang="it" sz="1600">
                <a:solidFill>
                  <a:schemeClr val="lt1"/>
                </a:solidFill>
              </a:rPr>
              <a:t>mart_corn_model_data</a:t>
            </a:r>
            <a:r>
              <a:rPr lang="it" sz="1600">
                <a:solidFill>
                  <a:schemeClr val="lt1"/>
                </a:solidFill>
              </a:rPr>
              <a:t> table is the aggregation of all the individual staging tables</a:t>
            </a:r>
            <a:endParaRPr sz="1600">
              <a:solidFill>
                <a:schemeClr val="lt1"/>
              </a:solidFill>
            </a:endParaRPr>
          </a:p>
        </p:txBody>
      </p:sp>
      <p:pic>
        <p:nvPicPr>
          <p:cNvPr id="193" name="Google Shape;193;p28"/>
          <p:cNvPicPr preferRelativeResize="0"/>
          <p:nvPr/>
        </p:nvPicPr>
        <p:blipFill>
          <a:blip r:embed="rId3">
            <a:alphaModFix/>
          </a:blip>
          <a:stretch>
            <a:fillRect/>
          </a:stretch>
        </p:blipFill>
        <p:spPr>
          <a:xfrm>
            <a:off x="316624" y="1148900"/>
            <a:ext cx="2310275" cy="3945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29"/>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99" name="Google Shape;199;p29"/>
          <p:cNvSpPr txBox="1"/>
          <p:nvPr>
            <p:ph idx="4294967295" type="body"/>
          </p:nvPr>
        </p:nvSpPr>
        <p:spPr>
          <a:xfrm>
            <a:off x="580525" y="1384525"/>
            <a:ext cx="7983000" cy="3357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Char char="●"/>
            </a:pPr>
            <a:r>
              <a:rPr lang="it">
                <a:solidFill>
                  <a:schemeClr val="lt1"/>
                </a:solidFill>
              </a:rPr>
              <a:t>There are </a:t>
            </a:r>
            <a:r>
              <a:rPr lang="it">
                <a:solidFill>
                  <a:schemeClr val="lt1"/>
                </a:solidFill>
              </a:rPr>
              <a:t>attributes</a:t>
            </a:r>
            <a:r>
              <a:rPr lang="it">
                <a:solidFill>
                  <a:schemeClr val="lt1"/>
                </a:solidFill>
              </a:rPr>
              <a:t> that were calculated during the transformation phase</a:t>
            </a:r>
            <a:endParaRPr>
              <a:solidFill>
                <a:schemeClr val="lt1"/>
              </a:solidFill>
            </a:endParaRPr>
          </a:p>
          <a:p>
            <a:pPr indent="-342900" lvl="0" marL="457200" rtl="0" algn="l">
              <a:lnSpc>
                <a:spcPct val="100000"/>
              </a:lnSpc>
              <a:spcBef>
                <a:spcPts val="1000"/>
              </a:spcBef>
              <a:spcAft>
                <a:spcPts val="0"/>
              </a:spcAft>
              <a:buClr>
                <a:schemeClr val="lt1"/>
              </a:buClr>
              <a:buSzPts val="1800"/>
              <a:buChar char="●"/>
            </a:pPr>
            <a:r>
              <a:rPr lang="it">
                <a:solidFill>
                  <a:schemeClr val="lt1"/>
                </a:solidFill>
              </a:rPr>
              <a:t>During which, redundant columns were removed and new attributes calculated to makes analysis easier</a:t>
            </a:r>
            <a:endParaRPr>
              <a:solidFill>
                <a:schemeClr val="lt1"/>
              </a:solidFill>
            </a:endParaRPr>
          </a:p>
          <a:p>
            <a:pPr indent="-342900" lvl="0" marL="457200" rtl="0" algn="l">
              <a:lnSpc>
                <a:spcPct val="100000"/>
              </a:lnSpc>
              <a:spcBef>
                <a:spcPts val="1000"/>
              </a:spcBef>
              <a:spcAft>
                <a:spcPts val="0"/>
              </a:spcAft>
              <a:buClr>
                <a:schemeClr val="lt1"/>
              </a:buClr>
              <a:buSzPts val="1800"/>
              <a:buChar char="●"/>
            </a:pPr>
            <a:r>
              <a:rPr lang="it">
                <a:solidFill>
                  <a:schemeClr val="lt1"/>
                </a:solidFill>
              </a:rPr>
              <a:t>The reason for some of the transformations was their inherent data types</a:t>
            </a:r>
            <a:endParaRPr>
              <a:solidFill>
                <a:schemeClr val="lt1"/>
              </a:solidFill>
            </a:endParaRPr>
          </a:p>
          <a:p>
            <a:pPr indent="-317500" lvl="1" marL="914400" rtl="0" algn="l">
              <a:lnSpc>
                <a:spcPct val="100000"/>
              </a:lnSpc>
              <a:spcBef>
                <a:spcPts val="1000"/>
              </a:spcBef>
              <a:spcAft>
                <a:spcPts val="0"/>
              </a:spcAft>
              <a:buClr>
                <a:schemeClr val="lt1"/>
              </a:buClr>
              <a:buSzPts val="1400"/>
              <a:buChar char="○"/>
            </a:pPr>
            <a:r>
              <a:rPr lang="it">
                <a:solidFill>
                  <a:schemeClr val="lt1"/>
                </a:solidFill>
              </a:rPr>
              <a:t>For example, Crop Condition is measured categorically as a percentage of the crop being either of Very Poor, Poor, Fair, Good or Excellent condition</a:t>
            </a:r>
            <a:endParaRPr>
              <a:solidFill>
                <a:schemeClr val="lt1"/>
              </a:solidFill>
            </a:endParaRPr>
          </a:p>
          <a:p>
            <a:pPr indent="-317500" lvl="1" marL="914400" rtl="0" algn="l">
              <a:lnSpc>
                <a:spcPct val="100000"/>
              </a:lnSpc>
              <a:spcBef>
                <a:spcPts val="1000"/>
              </a:spcBef>
              <a:spcAft>
                <a:spcPts val="0"/>
              </a:spcAft>
              <a:buClr>
                <a:schemeClr val="lt1"/>
              </a:buClr>
              <a:buSzPts val="1400"/>
              <a:buChar char="○"/>
            </a:pPr>
            <a:r>
              <a:rPr lang="it">
                <a:solidFill>
                  <a:schemeClr val="lt1"/>
                </a:solidFill>
              </a:rPr>
              <a:t>To make these attributes easier to work with, we created a weighted scale scoring each level called avg_condition_pollination_index</a:t>
            </a:r>
            <a:endParaRPr>
              <a:solidFill>
                <a:schemeClr val="lt1"/>
              </a:solidFill>
            </a:endParaRPr>
          </a:p>
          <a:p>
            <a:pPr indent="-317500" lvl="1" marL="914400" rtl="0" algn="l">
              <a:lnSpc>
                <a:spcPct val="100000"/>
              </a:lnSpc>
              <a:spcBef>
                <a:spcPts val="1000"/>
              </a:spcBef>
              <a:spcAft>
                <a:spcPts val="1000"/>
              </a:spcAft>
              <a:buClr>
                <a:schemeClr val="lt1"/>
              </a:buClr>
              <a:buSzPts val="1400"/>
              <a:buChar char="○"/>
            </a:pPr>
            <a:r>
              <a:rPr lang="it">
                <a:solidFill>
                  <a:schemeClr val="lt1"/>
                </a:solidFill>
              </a:rPr>
              <a:t>"Condition Index" = [(VP x 1) + (P x 2) + (F x 3) + (G x 4) + (E x 5)]/Total</a:t>
            </a:r>
            <a:endParaRPr>
              <a:solidFill>
                <a:schemeClr val="lt1"/>
              </a:solidFill>
            </a:endParaRPr>
          </a:p>
        </p:txBody>
      </p:sp>
      <p:sp>
        <p:nvSpPr>
          <p:cNvPr id="200" name="Google Shape;200;p29"/>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Feature Engineering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30"/>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06" name="Google Shape;206;p30"/>
          <p:cNvSpPr txBox="1"/>
          <p:nvPr>
            <p:ph idx="4294967295" type="body"/>
          </p:nvPr>
        </p:nvSpPr>
        <p:spPr>
          <a:xfrm>
            <a:off x="580525" y="2269200"/>
            <a:ext cx="7983000" cy="24726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Char char="●"/>
            </a:pPr>
            <a:r>
              <a:rPr lang="it">
                <a:solidFill>
                  <a:schemeClr val="lt1"/>
                </a:solidFill>
              </a:rPr>
              <a:t>The above preview highlights the raw data for one week as taken from the Quick Stats Website</a:t>
            </a:r>
            <a:endParaRPr>
              <a:solidFill>
                <a:schemeClr val="lt1"/>
              </a:solidFill>
            </a:endParaRPr>
          </a:p>
          <a:p>
            <a:pPr indent="-342900" lvl="0" marL="457200" rtl="0" algn="l">
              <a:lnSpc>
                <a:spcPct val="100000"/>
              </a:lnSpc>
              <a:spcBef>
                <a:spcPts val="1000"/>
              </a:spcBef>
              <a:spcAft>
                <a:spcPts val="0"/>
              </a:spcAft>
              <a:buClr>
                <a:schemeClr val="lt1"/>
              </a:buClr>
              <a:buSzPts val="1800"/>
              <a:buChar char="●"/>
            </a:pPr>
            <a:r>
              <a:rPr lang="it">
                <a:solidFill>
                  <a:schemeClr val="lt1"/>
                </a:solidFill>
              </a:rPr>
              <a:t>In dbt we needed to first change the week ending column into a single week number of the year between 1 - 52, creating a temporary column </a:t>
            </a:r>
            <a:r>
              <a:rPr b="1" lang="it">
                <a:solidFill>
                  <a:schemeClr val="lt1"/>
                </a:solidFill>
              </a:rPr>
              <a:t>week_num</a:t>
            </a:r>
            <a:endParaRPr b="1">
              <a:solidFill>
                <a:schemeClr val="lt1"/>
              </a:solidFill>
            </a:endParaRPr>
          </a:p>
          <a:p>
            <a:pPr indent="-342900" lvl="0" marL="457200" rtl="0" algn="l">
              <a:lnSpc>
                <a:spcPct val="100000"/>
              </a:lnSpc>
              <a:spcBef>
                <a:spcPts val="1000"/>
              </a:spcBef>
              <a:spcAft>
                <a:spcPts val="0"/>
              </a:spcAft>
              <a:buClr>
                <a:schemeClr val="lt1"/>
              </a:buClr>
              <a:buSzPts val="1800"/>
              <a:buChar char="●"/>
            </a:pPr>
            <a:r>
              <a:rPr lang="it">
                <a:solidFill>
                  <a:schemeClr val="lt1"/>
                </a:solidFill>
              </a:rPr>
              <a:t>We simplify the descriptions from …Fair, Good, etc… to just </a:t>
            </a:r>
            <a:r>
              <a:rPr b="1" lang="it">
                <a:solidFill>
                  <a:schemeClr val="lt1"/>
                </a:solidFill>
              </a:rPr>
              <a:t>vp, p, f, g, e</a:t>
            </a:r>
            <a:endParaRPr b="1">
              <a:solidFill>
                <a:schemeClr val="lt1"/>
              </a:solidFill>
            </a:endParaRPr>
          </a:p>
          <a:p>
            <a:pPr indent="-342900" lvl="0" marL="457200" rtl="0" algn="l">
              <a:lnSpc>
                <a:spcPct val="100000"/>
              </a:lnSpc>
              <a:spcBef>
                <a:spcPts val="1000"/>
              </a:spcBef>
              <a:spcAft>
                <a:spcPts val="0"/>
              </a:spcAft>
              <a:buClr>
                <a:schemeClr val="lt1"/>
              </a:buClr>
              <a:buSzPts val="1800"/>
              <a:buChar char="●"/>
            </a:pPr>
            <a:r>
              <a:rPr lang="it">
                <a:solidFill>
                  <a:schemeClr val="lt1"/>
                </a:solidFill>
              </a:rPr>
              <a:t>Then we group by year, and week_num and apply the equation</a:t>
            </a:r>
            <a:endParaRPr>
              <a:solidFill>
                <a:schemeClr val="lt1"/>
              </a:solidFill>
            </a:endParaRPr>
          </a:p>
          <a:p>
            <a:pPr indent="-342900" lvl="0" marL="457200" rtl="0" algn="l">
              <a:lnSpc>
                <a:spcPct val="100000"/>
              </a:lnSpc>
              <a:spcBef>
                <a:spcPts val="1000"/>
              </a:spcBef>
              <a:spcAft>
                <a:spcPts val="1000"/>
              </a:spcAft>
              <a:buClr>
                <a:schemeClr val="lt1"/>
              </a:buClr>
              <a:buSzPts val="1800"/>
              <a:buChar char="●"/>
            </a:pPr>
            <a:r>
              <a:rPr lang="it">
                <a:solidFill>
                  <a:schemeClr val="lt1"/>
                </a:solidFill>
              </a:rPr>
              <a:t>Then take the average by group between a range to arrive at a final index</a:t>
            </a:r>
            <a:endParaRPr>
              <a:solidFill>
                <a:schemeClr val="lt1"/>
              </a:solidFill>
            </a:endParaRPr>
          </a:p>
        </p:txBody>
      </p:sp>
      <p:sp>
        <p:nvSpPr>
          <p:cNvPr id="207" name="Google Shape;207;p30"/>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Feature Engineering</a:t>
            </a:r>
            <a:endParaRPr/>
          </a:p>
        </p:txBody>
      </p:sp>
      <p:pic>
        <p:nvPicPr>
          <p:cNvPr id="208" name="Google Shape;208;p30"/>
          <p:cNvPicPr preferRelativeResize="0"/>
          <p:nvPr/>
        </p:nvPicPr>
        <p:blipFill>
          <a:blip r:embed="rId3">
            <a:alphaModFix/>
          </a:blip>
          <a:stretch>
            <a:fillRect/>
          </a:stretch>
        </p:blipFill>
        <p:spPr>
          <a:xfrm>
            <a:off x="25" y="1058088"/>
            <a:ext cx="9143999" cy="103932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31"/>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14" name="Google Shape;214;p31"/>
          <p:cNvSpPr txBox="1"/>
          <p:nvPr>
            <p:ph idx="4294967295" type="body"/>
          </p:nvPr>
        </p:nvSpPr>
        <p:spPr>
          <a:xfrm>
            <a:off x="580525" y="1384525"/>
            <a:ext cx="7983000" cy="3357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Char char="●"/>
            </a:pPr>
            <a:r>
              <a:rPr lang="it">
                <a:solidFill>
                  <a:schemeClr val="lt1"/>
                </a:solidFill>
              </a:rPr>
              <a:t>We performed feature engineering in a similar fashion to attain the </a:t>
            </a:r>
            <a:r>
              <a:rPr lang="it">
                <a:solidFill>
                  <a:schemeClr val="lt1"/>
                </a:solidFill>
              </a:rPr>
              <a:t>columns</a:t>
            </a:r>
            <a:r>
              <a:rPr lang="it">
                <a:solidFill>
                  <a:schemeClr val="lt1"/>
                </a:solidFill>
              </a:rPr>
              <a:t>:</a:t>
            </a:r>
            <a:endParaRPr>
              <a:solidFill>
                <a:schemeClr val="lt1"/>
              </a:solidFill>
            </a:endParaRPr>
          </a:p>
          <a:p>
            <a:pPr indent="-317500" lvl="1" marL="914400" rtl="0" algn="l">
              <a:lnSpc>
                <a:spcPct val="100000"/>
              </a:lnSpc>
              <a:spcBef>
                <a:spcPts val="1000"/>
              </a:spcBef>
              <a:spcAft>
                <a:spcPts val="0"/>
              </a:spcAft>
              <a:buClr>
                <a:schemeClr val="lt1"/>
              </a:buClr>
              <a:buSzPts val="1400"/>
              <a:buChar char="○"/>
            </a:pPr>
            <a:r>
              <a:rPr b="1" lang="it">
                <a:solidFill>
                  <a:schemeClr val="lt1"/>
                </a:solidFill>
              </a:rPr>
              <a:t>avg_condition_pollination_index</a:t>
            </a:r>
            <a:r>
              <a:rPr lang="it">
                <a:solidFill>
                  <a:schemeClr val="lt1"/>
                </a:solidFill>
              </a:rPr>
              <a:t> (Weighted </a:t>
            </a:r>
            <a:r>
              <a:rPr lang="it">
                <a:solidFill>
                  <a:schemeClr val="lt1"/>
                </a:solidFill>
              </a:rPr>
              <a:t>average </a:t>
            </a:r>
            <a:r>
              <a:rPr lang="it">
                <a:solidFill>
                  <a:schemeClr val="lt1"/>
                </a:solidFill>
              </a:rPr>
              <a:t>crop condition during pollination)</a:t>
            </a:r>
            <a:endParaRPr>
              <a:solidFill>
                <a:schemeClr val="lt1"/>
              </a:solidFill>
            </a:endParaRPr>
          </a:p>
          <a:p>
            <a:pPr indent="-317500" lvl="1" marL="914400" rtl="0" algn="l">
              <a:lnSpc>
                <a:spcPct val="100000"/>
              </a:lnSpc>
              <a:spcBef>
                <a:spcPts val="1000"/>
              </a:spcBef>
              <a:spcAft>
                <a:spcPts val="0"/>
              </a:spcAft>
              <a:buClr>
                <a:schemeClr val="lt1"/>
              </a:buClr>
              <a:buSzPts val="1400"/>
              <a:buChar char="○"/>
            </a:pPr>
            <a:r>
              <a:rPr b="1" lang="it">
                <a:solidFill>
                  <a:schemeClr val="lt1"/>
                </a:solidFill>
              </a:rPr>
              <a:t>planting_50_pct_doy</a:t>
            </a:r>
            <a:r>
              <a:rPr lang="it">
                <a:solidFill>
                  <a:schemeClr val="lt1"/>
                </a:solidFill>
              </a:rPr>
              <a:t> (The </a:t>
            </a:r>
            <a:r>
              <a:rPr lang="it">
                <a:solidFill>
                  <a:schemeClr val="lt1"/>
                </a:solidFill>
              </a:rPr>
              <a:t>approximate</a:t>
            </a:r>
            <a:r>
              <a:rPr lang="it">
                <a:solidFill>
                  <a:schemeClr val="lt1"/>
                </a:solidFill>
              </a:rPr>
              <a:t> day when 50% of all crop was planted)</a:t>
            </a:r>
            <a:endParaRPr>
              <a:solidFill>
                <a:schemeClr val="lt1"/>
              </a:solidFill>
            </a:endParaRPr>
          </a:p>
          <a:p>
            <a:pPr indent="-317500" lvl="1" marL="914400" rtl="0" algn="l">
              <a:lnSpc>
                <a:spcPct val="100000"/>
              </a:lnSpc>
              <a:spcBef>
                <a:spcPts val="1000"/>
              </a:spcBef>
              <a:spcAft>
                <a:spcPts val="0"/>
              </a:spcAft>
              <a:buClr>
                <a:schemeClr val="lt1"/>
              </a:buClr>
              <a:buSzPts val="1400"/>
              <a:buChar char="○"/>
            </a:pPr>
            <a:r>
              <a:rPr b="1" lang="it">
                <a:solidFill>
                  <a:schemeClr val="lt1"/>
                </a:solidFill>
              </a:rPr>
              <a:t>temp_stress_july_count</a:t>
            </a:r>
            <a:r>
              <a:rPr lang="it">
                <a:solidFill>
                  <a:schemeClr val="lt1"/>
                </a:solidFill>
              </a:rPr>
              <a:t> (A</a:t>
            </a:r>
            <a:r>
              <a:rPr lang="it">
                <a:solidFill>
                  <a:schemeClr val="lt1"/>
                </a:solidFill>
              </a:rPr>
              <a:t>pproximate</a:t>
            </a:r>
            <a:r>
              <a:rPr lang="it">
                <a:solidFill>
                  <a:schemeClr val="lt1"/>
                </a:solidFill>
              </a:rPr>
              <a:t> count of degrees above 30 degrees celsius in July)</a:t>
            </a:r>
            <a:endParaRPr>
              <a:solidFill>
                <a:schemeClr val="lt1"/>
              </a:solidFill>
            </a:endParaRPr>
          </a:p>
          <a:p>
            <a:pPr indent="-317500" lvl="1" marL="914400" rtl="0" algn="l">
              <a:lnSpc>
                <a:spcPct val="100000"/>
              </a:lnSpc>
              <a:spcBef>
                <a:spcPts val="1000"/>
              </a:spcBef>
              <a:spcAft>
                <a:spcPts val="0"/>
              </a:spcAft>
              <a:buClr>
                <a:schemeClr val="lt1"/>
              </a:buClr>
              <a:buSzPts val="1400"/>
              <a:buChar char="○"/>
            </a:pPr>
            <a:r>
              <a:rPr b="1" lang="it">
                <a:solidFill>
                  <a:schemeClr val="lt1"/>
                </a:solidFill>
              </a:rPr>
              <a:t>post_pollination_rain</a:t>
            </a:r>
            <a:r>
              <a:rPr lang="it">
                <a:solidFill>
                  <a:schemeClr val="lt1"/>
                </a:solidFill>
              </a:rPr>
              <a:t> (The amount of rain received after pollination)</a:t>
            </a:r>
            <a:endParaRPr>
              <a:solidFill>
                <a:schemeClr val="lt1"/>
              </a:solidFill>
            </a:endParaRPr>
          </a:p>
          <a:p>
            <a:pPr indent="-317500" lvl="1" marL="914400" rtl="0" algn="l">
              <a:lnSpc>
                <a:spcPct val="100000"/>
              </a:lnSpc>
              <a:spcBef>
                <a:spcPts val="1000"/>
              </a:spcBef>
              <a:spcAft>
                <a:spcPts val="0"/>
              </a:spcAft>
              <a:buClr>
                <a:schemeClr val="lt1"/>
              </a:buClr>
              <a:buSzPts val="1400"/>
              <a:buChar char="○"/>
            </a:pPr>
            <a:r>
              <a:rPr b="1" lang="it">
                <a:solidFill>
                  <a:schemeClr val="lt1"/>
                </a:solidFill>
              </a:rPr>
              <a:t>rainfall_effectiveness_index</a:t>
            </a:r>
            <a:r>
              <a:rPr lang="it">
                <a:solidFill>
                  <a:schemeClr val="lt1"/>
                </a:solidFill>
              </a:rPr>
              <a:t> (Spring Rainfall normalized against planting_50_pct_doy)</a:t>
            </a:r>
            <a:endParaRPr>
              <a:solidFill>
                <a:schemeClr val="lt1"/>
              </a:solidFill>
            </a:endParaRPr>
          </a:p>
          <a:p>
            <a:pPr indent="-317500" lvl="1" marL="914400" rtl="0" algn="l">
              <a:lnSpc>
                <a:spcPct val="100000"/>
              </a:lnSpc>
              <a:spcBef>
                <a:spcPts val="1000"/>
              </a:spcBef>
              <a:spcAft>
                <a:spcPts val="1000"/>
              </a:spcAft>
              <a:buClr>
                <a:schemeClr val="lt1"/>
              </a:buClr>
              <a:buSzPts val="1400"/>
              <a:buChar char="○"/>
            </a:pPr>
            <a:r>
              <a:rPr b="1" lang="it">
                <a:solidFill>
                  <a:schemeClr val="lt1"/>
                </a:solidFill>
              </a:rPr>
              <a:t>stock_to_use_ratio</a:t>
            </a:r>
            <a:r>
              <a:rPr lang="it">
                <a:solidFill>
                  <a:schemeClr val="lt1"/>
                </a:solidFill>
              </a:rPr>
              <a:t> (Ratio of total_stock / total_usage. This compresses our other columns)</a:t>
            </a:r>
            <a:endParaRPr>
              <a:solidFill>
                <a:schemeClr val="lt1"/>
              </a:solidFill>
            </a:endParaRPr>
          </a:p>
        </p:txBody>
      </p:sp>
      <p:sp>
        <p:nvSpPr>
          <p:cNvPr id="215" name="Google Shape;215;p31"/>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Feature Engineering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32"/>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21" name="Google Shape;221;p32"/>
          <p:cNvSpPr txBox="1"/>
          <p:nvPr>
            <p:ph idx="4294967295" type="body"/>
          </p:nvPr>
        </p:nvSpPr>
        <p:spPr>
          <a:xfrm>
            <a:off x="6119500" y="3446700"/>
            <a:ext cx="2848500" cy="1569900"/>
          </a:xfrm>
          <a:prstGeom prst="rect">
            <a:avLst/>
          </a:prstGeom>
        </p:spPr>
        <p:txBody>
          <a:bodyPr anchorCtr="0" anchor="t" bIns="91425" lIns="91425" spcFirstLastPara="1" rIns="91425" wrap="square" tIns="91425">
            <a:spAutoFit/>
          </a:bodyPr>
          <a:lstStyle/>
          <a:p>
            <a:pPr indent="0" lvl="0" marL="457200" rtl="0" algn="l">
              <a:lnSpc>
                <a:spcPct val="100000"/>
              </a:lnSpc>
              <a:spcBef>
                <a:spcPts val="0"/>
              </a:spcBef>
              <a:spcAft>
                <a:spcPts val="1000"/>
              </a:spcAft>
              <a:buNone/>
            </a:pPr>
            <a:r>
              <a:rPr lang="it">
                <a:solidFill>
                  <a:schemeClr val="lt1"/>
                </a:solidFill>
              </a:rPr>
              <a:t>This is the schema for our final data mart, enriched with attributes from our other staging tables</a:t>
            </a:r>
            <a:endParaRPr>
              <a:solidFill>
                <a:schemeClr val="lt1"/>
              </a:solidFill>
            </a:endParaRPr>
          </a:p>
        </p:txBody>
      </p:sp>
      <p:sp>
        <p:nvSpPr>
          <p:cNvPr id="222" name="Google Shape;222;p32"/>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Feature Engineering</a:t>
            </a:r>
            <a:endParaRPr/>
          </a:p>
        </p:txBody>
      </p:sp>
      <p:pic>
        <p:nvPicPr>
          <p:cNvPr id="223" name="Google Shape;223;p32"/>
          <p:cNvPicPr preferRelativeResize="0"/>
          <p:nvPr/>
        </p:nvPicPr>
        <p:blipFill>
          <a:blip r:embed="rId3">
            <a:alphaModFix/>
          </a:blip>
          <a:stretch>
            <a:fillRect/>
          </a:stretch>
        </p:blipFill>
        <p:spPr>
          <a:xfrm>
            <a:off x="201299" y="1171250"/>
            <a:ext cx="5674176" cy="3845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Quality Testing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4"/>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WHAT HAS BEEN PERFORMED</a:t>
            </a:r>
            <a:endParaRPr/>
          </a:p>
        </p:txBody>
      </p:sp>
      <p:sp>
        <p:nvSpPr>
          <p:cNvPr id="234" name="Google Shape;234;p34"/>
          <p:cNvSpPr txBox="1"/>
          <p:nvPr>
            <p:ph idx="2" type="body"/>
          </p:nvPr>
        </p:nvSpPr>
        <p:spPr>
          <a:xfrm>
            <a:off x="4939500" y="377250"/>
            <a:ext cx="3837000" cy="4085400"/>
          </a:xfrm>
          <a:prstGeom prst="rect">
            <a:avLst/>
          </a:prstGeom>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b="1" lang="it"/>
              <a:t>Pipeline Verification:</a:t>
            </a:r>
            <a:r>
              <a:rPr lang="it"/>
              <a:t> Ensured deterministic and reproducible transformations.</a:t>
            </a:r>
            <a:endParaRPr/>
          </a:p>
          <a:p>
            <a:pPr indent="-342900" lvl="0" marL="457200" rtl="0" algn="l">
              <a:lnSpc>
                <a:spcPct val="100000"/>
              </a:lnSpc>
              <a:spcBef>
                <a:spcPts val="1000"/>
              </a:spcBef>
              <a:spcAft>
                <a:spcPts val="0"/>
              </a:spcAft>
              <a:buSzPts val="1800"/>
              <a:buChar char="●"/>
            </a:pPr>
            <a:r>
              <a:rPr b="1" lang="it"/>
              <a:t>Schema Validation: </a:t>
            </a:r>
            <a:r>
              <a:rPr lang="it"/>
              <a:t>Enforce uniqueness, completeness, and type consistency of keys.</a:t>
            </a:r>
            <a:endParaRPr/>
          </a:p>
          <a:p>
            <a:pPr indent="-342900" lvl="0" marL="457200" rtl="0" algn="l">
              <a:lnSpc>
                <a:spcPct val="100000"/>
              </a:lnSpc>
              <a:spcBef>
                <a:spcPts val="1000"/>
              </a:spcBef>
              <a:spcAft>
                <a:spcPts val="0"/>
              </a:spcAft>
              <a:buSzPts val="1800"/>
              <a:buChar char="●"/>
            </a:pPr>
            <a:r>
              <a:rPr b="1" lang="it"/>
              <a:t>Business Logic Validation: </a:t>
            </a:r>
            <a:r>
              <a:rPr lang="it"/>
              <a:t>Applied domain-based physics checks for plausibility.</a:t>
            </a:r>
            <a:endParaRPr/>
          </a:p>
          <a:p>
            <a:pPr indent="-342900" lvl="0" marL="457200" rtl="0" algn="l">
              <a:lnSpc>
                <a:spcPct val="100000"/>
              </a:lnSpc>
              <a:spcBef>
                <a:spcPts val="1000"/>
              </a:spcBef>
              <a:spcAft>
                <a:spcPts val="1000"/>
              </a:spcAft>
              <a:buSzPts val="1800"/>
              <a:buChar char="●"/>
            </a:pPr>
            <a:r>
              <a:rPr b="1" lang="it"/>
              <a:t>Temporal Consistency:</a:t>
            </a:r>
            <a:r>
              <a:rPr lang="it"/>
              <a:t> Retained only years with complete and consistent features.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35"/>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40" name="Google Shape;240;p35"/>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Testing Framework (dbt)</a:t>
            </a:r>
            <a:endParaRPr/>
          </a:p>
        </p:txBody>
      </p:sp>
      <p:sp>
        <p:nvSpPr>
          <p:cNvPr id="241" name="Google Shape;241;p35"/>
          <p:cNvSpPr txBox="1"/>
          <p:nvPr>
            <p:ph idx="4294967295" type="body"/>
          </p:nvPr>
        </p:nvSpPr>
        <p:spPr>
          <a:xfrm>
            <a:off x="580525" y="1384525"/>
            <a:ext cx="7983000" cy="3357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Char char="●"/>
            </a:pPr>
            <a:r>
              <a:rPr b="1" lang="it">
                <a:solidFill>
                  <a:schemeClr val="lt1"/>
                </a:solidFill>
              </a:rPr>
              <a:t>Automated Testing Layer: </a:t>
            </a:r>
            <a:r>
              <a:rPr lang="it" sz="1600">
                <a:solidFill>
                  <a:schemeClr val="lt1"/>
                </a:solidFill>
              </a:rPr>
              <a:t>Implemented 24+ dbt tests across staging, intermediate, and mart layers</a:t>
            </a:r>
            <a:endParaRPr>
              <a:solidFill>
                <a:schemeClr val="lt1"/>
              </a:solidFill>
            </a:endParaRPr>
          </a:p>
          <a:p>
            <a:pPr indent="-342900" lvl="0" marL="457200" rtl="0" algn="l">
              <a:lnSpc>
                <a:spcPct val="100000"/>
              </a:lnSpc>
              <a:spcBef>
                <a:spcPts val="1000"/>
              </a:spcBef>
              <a:spcAft>
                <a:spcPts val="0"/>
              </a:spcAft>
              <a:buClr>
                <a:schemeClr val="lt1"/>
              </a:buClr>
              <a:buSzPts val="1800"/>
              <a:buChar char="●"/>
            </a:pPr>
            <a:r>
              <a:rPr b="1" lang="it">
                <a:solidFill>
                  <a:schemeClr val="lt1"/>
                </a:solidFill>
              </a:rPr>
              <a:t>Shift-Left Quality Control:</a:t>
            </a:r>
            <a:r>
              <a:rPr lang="it">
                <a:solidFill>
                  <a:schemeClr val="lt1"/>
                </a:solidFill>
              </a:rPr>
              <a:t> </a:t>
            </a:r>
            <a:r>
              <a:rPr lang="it" sz="1600">
                <a:solidFill>
                  <a:schemeClr val="lt1"/>
                </a:solidFill>
              </a:rPr>
              <a:t>Data quality was enforced immediately after transformation, prior to any exploratory or statistical analysis</a:t>
            </a:r>
            <a:endParaRPr>
              <a:solidFill>
                <a:schemeClr val="lt1"/>
              </a:solidFill>
            </a:endParaRPr>
          </a:p>
          <a:p>
            <a:pPr indent="-342900" lvl="0" marL="457200" rtl="0" algn="l">
              <a:lnSpc>
                <a:spcPct val="100000"/>
              </a:lnSpc>
              <a:spcBef>
                <a:spcPts val="1000"/>
              </a:spcBef>
              <a:spcAft>
                <a:spcPts val="0"/>
              </a:spcAft>
              <a:buClr>
                <a:schemeClr val="lt1"/>
              </a:buClr>
              <a:buSzPts val="1800"/>
              <a:buChar char="●"/>
            </a:pPr>
            <a:r>
              <a:rPr b="1" lang="it">
                <a:solidFill>
                  <a:schemeClr val="lt1"/>
                </a:solidFill>
              </a:rPr>
              <a:t>Fail-Fast Design Principle:</a:t>
            </a:r>
            <a:r>
              <a:rPr lang="it">
                <a:solidFill>
                  <a:schemeClr val="lt1"/>
                </a:solidFill>
              </a:rPr>
              <a:t> </a:t>
            </a:r>
            <a:r>
              <a:rPr lang="it" sz="1600">
                <a:solidFill>
                  <a:schemeClr val="lt1"/>
                </a:solidFill>
              </a:rPr>
              <a:t>Any test failure halted the pipeline, preventing invalid data from propagating downstream</a:t>
            </a:r>
            <a:endParaRPr>
              <a:solidFill>
                <a:schemeClr val="lt1"/>
              </a:solidFill>
            </a:endParaRPr>
          </a:p>
          <a:p>
            <a:pPr indent="-342900" lvl="0" marL="457200" rtl="0" algn="l">
              <a:lnSpc>
                <a:spcPct val="100000"/>
              </a:lnSpc>
              <a:spcBef>
                <a:spcPts val="1000"/>
              </a:spcBef>
              <a:spcAft>
                <a:spcPts val="0"/>
              </a:spcAft>
              <a:buClr>
                <a:schemeClr val="lt1"/>
              </a:buClr>
              <a:buSzPts val="1800"/>
              <a:buChar char="●"/>
            </a:pPr>
            <a:r>
              <a:rPr b="1" lang="it">
                <a:solidFill>
                  <a:schemeClr val="lt1"/>
                </a:solidFill>
              </a:rPr>
              <a:t>Layer-Aware Testing Strategy: </a:t>
            </a:r>
            <a:r>
              <a:rPr lang="it" sz="1600">
                <a:solidFill>
                  <a:schemeClr val="lt1"/>
                </a:solidFill>
              </a:rPr>
              <a:t>Applied different test types per layer, ranging from schema validation in staging to business-rule enforcement in marts</a:t>
            </a:r>
            <a:endParaRPr>
              <a:solidFill>
                <a:schemeClr val="lt1"/>
              </a:solidFill>
            </a:endParaRPr>
          </a:p>
          <a:p>
            <a:pPr indent="-342900" lvl="0" marL="457200" rtl="0" algn="l">
              <a:lnSpc>
                <a:spcPct val="100000"/>
              </a:lnSpc>
              <a:spcBef>
                <a:spcPts val="1000"/>
              </a:spcBef>
              <a:spcAft>
                <a:spcPts val="1000"/>
              </a:spcAft>
              <a:buClr>
                <a:schemeClr val="lt1"/>
              </a:buClr>
              <a:buSzPts val="1800"/>
              <a:buChar char="●"/>
            </a:pPr>
            <a:r>
              <a:rPr b="1" lang="it">
                <a:solidFill>
                  <a:schemeClr val="lt1"/>
                </a:solidFill>
              </a:rPr>
              <a:t>Version-Controlled Assumptions: </a:t>
            </a:r>
            <a:r>
              <a:rPr lang="it" sz="1600">
                <a:solidFill>
                  <a:schemeClr val="lt1"/>
                </a:solidFill>
              </a:rPr>
              <a:t>Encoded all quality rules directly in the dbt project, ensuring transparency, reviewability, and reproducibility</a:t>
            </a:r>
            <a:endParaRPr>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36"/>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47" name="Google Shape;247;p36"/>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Test Categories</a:t>
            </a:r>
            <a:endParaRPr/>
          </a:p>
        </p:txBody>
      </p:sp>
      <p:sp>
        <p:nvSpPr>
          <p:cNvPr id="248" name="Google Shape;248;p36"/>
          <p:cNvSpPr txBox="1"/>
          <p:nvPr>
            <p:ph idx="4294967295" type="body"/>
          </p:nvPr>
        </p:nvSpPr>
        <p:spPr>
          <a:xfrm>
            <a:off x="721075" y="1371100"/>
            <a:ext cx="7701900" cy="3357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AutoNum type="arabicPeriod"/>
            </a:pPr>
            <a:r>
              <a:rPr b="1" lang="it">
                <a:solidFill>
                  <a:schemeClr val="lt1"/>
                </a:solidFill>
              </a:rPr>
              <a:t>Schema &amp; Structural Tests</a:t>
            </a:r>
            <a:endParaRPr b="1">
              <a:solidFill>
                <a:schemeClr val="lt1"/>
              </a:solidFill>
            </a:endParaRPr>
          </a:p>
          <a:p>
            <a:pPr indent="-317500" lvl="2" marL="1371600" marR="0" rtl="0" algn="l">
              <a:lnSpc>
                <a:spcPct val="100000"/>
              </a:lnSpc>
              <a:spcBef>
                <a:spcPts val="0"/>
              </a:spcBef>
              <a:spcAft>
                <a:spcPts val="0"/>
              </a:spcAft>
              <a:buClr>
                <a:schemeClr val="lt1"/>
              </a:buClr>
              <a:buSzPts val="1400"/>
              <a:buAutoNum type="romanLcPeriod"/>
            </a:pPr>
            <a:r>
              <a:rPr lang="it" sz="1600">
                <a:solidFill>
                  <a:schemeClr val="lt1"/>
                </a:solidFill>
              </a:rPr>
              <a:t>unique and not_null constraints on yearly primary keys</a:t>
            </a:r>
            <a:endParaRPr sz="1600">
              <a:solidFill>
                <a:schemeClr val="lt1"/>
              </a:solidFill>
            </a:endParaRPr>
          </a:p>
          <a:p>
            <a:pPr indent="-317500" lvl="2" marL="1371600" marR="0" rtl="0" algn="l">
              <a:lnSpc>
                <a:spcPct val="100000"/>
              </a:lnSpc>
              <a:spcBef>
                <a:spcPts val="0"/>
              </a:spcBef>
              <a:spcAft>
                <a:spcPts val="0"/>
              </a:spcAft>
              <a:buClr>
                <a:schemeClr val="lt1"/>
              </a:buClr>
              <a:buSzPts val="1400"/>
              <a:buAutoNum type="romanLcPeriod"/>
            </a:pPr>
            <a:r>
              <a:rPr lang="it" sz="1600">
                <a:solidFill>
                  <a:schemeClr val="lt1"/>
                </a:solidFill>
              </a:rPr>
              <a:t>Prevention of duplicate records and join-induced fan-out</a:t>
            </a:r>
            <a:endParaRPr sz="1600">
              <a:solidFill>
                <a:schemeClr val="lt1"/>
              </a:solidFill>
            </a:endParaRPr>
          </a:p>
          <a:p>
            <a:pPr indent="0" lvl="0" marL="1828800" marR="0" rtl="0" algn="l">
              <a:lnSpc>
                <a:spcPct val="100000"/>
              </a:lnSpc>
              <a:spcBef>
                <a:spcPts val="0"/>
              </a:spcBef>
              <a:spcAft>
                <a:spcPts val="0"/>
              </a:spcAft>
              <a:buNone/>
            </a:pPr>
            <a:r>
              <a:t/>
            </a:r>
            <a:endParaRPr sz="1600">
              <a:solidFill>
                <a:schemeClr val="lt1"/>
              </a:solidFill>
            </a:endParaRPr>
          </a:p>
          <a:p>
            <a:pPr indent="-342900" lvl="0" marL="457200" rtl="0" algn="l">
              <a:lnSpc>
                <a:spcPct val="100000"/>
              </a:lnSpc>
              <a:spcBef>
                <a:spcPts val="0"/>
              </a:spcBef>
              <a:spcAft>
                <a:spcPts val="0"/>
              </a:spcAft>
              <a:buClr>
                <a:schemeClr val="lt1"/>
              </a:buClr>
              <a:buSzPts val="1800"/>
              <a:buAutoNum type="arabicPeriod"/>
            </a:pPr>
            <a:r>
              <a:rPr b="1" lang="it">
                <a:solidFill>
                  <a:schemeClr val="lt1"/>
                </a:solidFill>
              </a:rPr>
              <a:t>Business Logic (“Physics”) Tests</a:t>
            </a:r>
            <a:endParaRPr b="1">
              <a:solidFill>
                <a:schemeClr val="lt1"/>
              </a:solidFill>
            </a:endParaRPr>
          </a:p>
          <a:p>
            <a:pPr indent="-317500" lvl="2" marL="1371600" marR="0" rtl="0" algn="l">
              <a:lnSpc>
                <a:spcPct val="100000"/>
              </a:lnSpc>
              <a:spcBef>
                <a:spcPts val="0"/>
              </a:spcBef>
              <a:spcAft>
                <a:spcPts val="0"/>
              </a:spcAft>
              <a:buClr>
                <a:schemeClr val="lt1"/>
              </a:buClr>
              <a:buSzPts val="1400"/>
              <a:buAutoNum type="romanLcPeriod"/>
            </a:pPr>
            <a:r>
              <a:rPr lang="it" sz="1600">
                <a:solidFill>
                  <a:schemeClr val="lt1"/>
                </a:solidFill>
              </a:rPr>
              <a:t>Precipitation values constrained to non-negative domain</a:t>
            </a:r>
            <a:endParaRPr sz="1600">
              <a:solidFill>
                <a:schemeClr val="lt1"/>
              </a:solidFill>
            </a:endParaRPr>
          </a:p>
          <a:p>
            <a:pPr indent="-317500" lvl="2" marL="1371600" marR="0" rtl="0" algn="l">
              <a:lnSpc>
                <a:spcPct val="100000"/>
              </a:lnSpc>
              <a:spcBef>
                <a:spcPts val="0"/>
              </a:spcBef>
              <a:spcAft>
                <a:spcPts val="0"/>
              </a:spcAft>
              <a:buClr>
                <a:schemeClr val="lt1"/>
              </a:buClr>
              <a:buSzPts val="1400"/>
              <a:buAutoNum type="romanLcPeriod"/>
            </a:pPr>
            <a:r>
              <a:rPr lang="it" sz="1600">
                <a:solidFill>
                  <a:schemeClr val="lt1"/>
                </a:solidFill>
              </a:rPr>
              <a:t>Crop condition index bounded strictly between 1 and 5</a:t>
            </a:r>
            <a:endParaRPr sz="1600">
              <a:solidFill>
                <a:schemeClr val="lt1"/>
              </a:solidFill>
            </a:endParaRPr>
          </a:p>
          <a:p>
            <a:pPr indent="-317500" lvl="2" marL="1371600" marR="0" rtl="0" algn="l">
              <a:lnSpc>
                <a:spcPct val="100000"/>
              </a:lnSpc>
              <a:spcBef>
                <a:spcPts val="0"/>
              </a:spcBef>
              <a:spcAft>
                <a:spcPts val="0"/>
              </a:spcAft>
              <a:buClr>
                <a:schemeClr val="lt1"/>
              </a:buClr>
              <a:buSzPts val="1400"/>
              <a:buAutoNum type="romanLcPeriod"/>
            </a:pPr>
            <a:r>
              <a:rPr lang="it" sz="1600">
                <a:solidFill>
                  <a:schemeClr val="lt1"/>
                </a:solidFill>
              </a:rPr>
              <a:t>Stocks-to-use ratios restricted to mathematically plausible ranges</a:t>
            </a:r>
            <a:endParaRPr sz="1600">
              <a:solidFill>
                <a:schemeClr val="lt1"/>
              </a:solidFill>
            </a:endParaRPr>
          </a:p>
          <a:p>
            <a:pPr indent="0" lvl="0" marL="1828800" marR="0" rtl="0" algn="l">
              <a:lnSpc>
                <a:spcPct val="100000"/>
              </a:lnSpc>
              <a:spcBef>
                <a:spcPts val="0"/>
              </a:spcBef>
              <a:spcAft>
                <a:spcPts val="0"/>
              </a:spcAft>
              <a:buNone/>
            </a:pPr>
            <a:r>
              <a:t/>
            </a:r>
            <a:endParaRPr sz="1600">
              <a:solidFill>
                <a:schemeClr val="lt1"/>
              </a:solidFill>
            </a:endParaRPr>
          </a:p>
          <a:p>
            <a:pPr indent="-342900" lvl="0" marL="457200" rtl="0" algn="l">
              <a:lnSpc>
                <a:spcPct val="100000"/>
              </a:lnSpc>
              <a:spcBef>
                <a:spcPts val="0"/>
              </a:spcBef>
              <a:spcAft>
                <a:spcPts val="0"/>
              </a:spcAft>
              <a:buClr>
                <a:schemeClr val="lt1"/>
              </a:buClr>
              <a:buSzPts val="1800"/>
              <a:buAutoNum type="arabicPeriod"/>
            </a:pPr>
            <a:r>
              <a:rPr b="1" lang="it">
                <a:solidFill>
                  <a:schemeClr val="lt1"/>
                </a:solidFill>
              </a:rPr>
              <a:t>Referential Integrity</a:t>
            </a:r>
            <a:endParaRPr b="1">
              <a:solidFill>
                <a:schemeClr val="lt1"/>
              </a:solidFill>
            </a:endParaRPr>
          </a:p>
          <a:p>
            <a:pPr indent="-317500" lvl="2" marL="1371600" rtl="0" algn="l">
              <a:lnSpc>
                <a:spcPct val="100000"/>
              </a:lnSpc>
              <a:spcBef>
                <a:spcPts val="0"/>
              </a:spcBef>
              <a:spcAft>
                <a:spcPts val="0"/>
              </a:spcAft>
              <a:buClr>
                <a:schemeClr val="lt1"/>
              </a:buClr>
              <a:buSzPts val="1400"/>
              <a:buAutoNum type="romanLcPeriod"/>
            </a:pPr>
            <a:r>
              <a:rPr lang="it" sz="1600">
                <a:solidFill>
                  <a:schemeClr val="lt1"/>
                </a:solidFill>
              </a:rPr>
              <a:t>Final mart constructed using strict inner joins</a:t>
            </a:r>
            <a:endParaRPr sz="1600">
              <a:solidFill>
                <a:schemeClr val="lt1"/>
              </a:solidFill>
            </a:endParaRPr>
          </a:p>
          <a:p>
            <a:pPr indent="-317500" lvl="2" marL="1371600" rtl="0" algn="l">
              <a:lnSpc>
                <a:spcPct val="100000"/>
              </a:lnSpc>
              <a:spcBef>
                <a:spcPts val="0"/>
              </a:spcBef>
              <a:spcAft>
                <a:spcPts val="0"/>
              </a:spcAft>
              <a:buClr>
                <a:schemeClr val="lt1"/>
              </a:buClr>
              <a:buSzPts val="1400"/>
              <a:buAutoNum type="romanLcPeriod"/>
            </a:pPr>
            <a:r>
              <a:rPr lang="it" sz="1600">
                <a:solidFill>
                  <a:schemeClr val="lt1"/>
                </a:solidFill>
              </a:rPr>
              <a:t>Implicit exclusion of years with missing or partial feature coverage</a:t>
            </a:r>
            <a:endParaRPr b="1">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37"/>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54" name="Google Shape;254;p37"/>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Automation &amp; Documentation</a:t>
            </a:r>
            <a:endParaRPr/>
          </a:p>
        </p:txBody>
      </p:sp>
      <p:sp>
        <p:nvSpPr>
          <p:cNvPr id="255" name="Google Shape;255;p37"/>
          <p:cNvSpPr txBox="1"/>
          <p:nvPr>
            <p:ph idx="4294967295" type="body"/>
          </p:nvPr>
        </p:nvSpPr>
        <p:spPr>
          <a:xfrm>
            <a:off x="801475" y="1478275"/>
            <a:ext cx="7541100" cy="27945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Char char="●"/>
            </a:pPr>
            <a:r>
              <a:rPr b="1" lang="it">
                <a:solidFill>
                  <a:schemeClr val="lt1"/>
                </a:solidFill>
              </a:rPr>
              <a:t>Pipeline Orchestration: </a:t>
            </a:r>
            <a:endParaRPr b="1">
              <a:solidFill>
                <a:schemeClr val="lt1"/>
              </a:solidFill>
            </a:endParaRPr>
          </a:p>
          <a:p>
            <a:pPr indent="0" lvl="0" marL="914400" rtl="0" algn="l">
              <a:lnSpc>
                <a:spcPct val="100000"/>
              </a:lnSpc>
              <a:spcBef>
                <a:spcPts val="1000"/>
              </a:spcBef>
              <a:spcAft>
                <a:spcPts val="0"/>
              </a:spcAft>
              <a:buNone/>
            </a:pPr>
            <a:r>
              <a:rPr lang="it" sz="1600">
                <a:solidFill>
                  <a:schemeClr val="lt1"/>
                </a:solidFill>
              </a:rPr>
              <a:t>A Python-based runner executed dbt models and tests sequentially, enforcing test-first execution</a:t>
            </a:r>
            <a:endParaRPr sz="1600">
              <a:solidFill>
                <a:schemeClr val="lt1"/>
              </a:solidFill>
            </a:endParaRPr>
          </a:p>
          <a:p>
            <a:pPr indent="0" lvl="0" marL="914400" rtl="0" algn="l">
              <a:lnSpc>
                <a:spcPct val="100000"/>
              </a:lnSpc>
              <a:spcBef>
                <a:spcPts val="1000"/>
              </a:spcBef>
              <a:spcAft>
                <a:spcPts val="0"/>
              </a:spcAft>
              <a:buNone/>
            </a:pPr>
            <a:r>
              <a:t/>
            </a:r>
            <a:endParaRPr sz="1600">
              <a:solidFill>
                <a:schemeClr val="lt1"/>
              </a:solidFill>
            </a:endParaRPr>
          </a:p>
          <a:p>
            <a:pPr indent="-342900" lvl="0" marL="457200" rtl="0" algn="l">
              <a:lnSpc>
                <a:spcPct val="100000"/>
              </a:lnSpc>
              <a:spcBef>
                <a:spcPts val="1000"/>
              </a:spcBef>
              <a:spcAft>
                <a:spcPts val="0"/>
              </a:spcAft>
              <a:buClr>
                <a:schemeClr val="lt1"/>
              </a:buClr>
              <a:buSzPts val="1800"/>
              <a:buChar char="●"/>
            </a:pPr>
            <a:r>
              <a:rPr b="1" lang="it">
                <a:solidFill>
                  <a:schemeClr val="lt1"/>
                </a:solidFill>
              </a:rPr>
              <a:t>Governance &amp; Transparency: </a:t>
            </a:r>
            <a:endParaRPr sz="1600">
              <a:solidFill>
                <a:schemeClr val="lt1"/>
              </a:solidFill>
            </a:endParaRPr>
          </a:p>
          <a:p>
            <a:pPr indent="0" lvl="0" marL="914400" rtl="0" algn="l">
              <a:lnSpc>
                <a:spcPct val="100000"/>
              </a:lnSpc>
              <a:spcBef>
                <a:spcPts val="1000"/>
              </a:spcBef>
              <a:spcAft>
                <a:spcPts val="1000"/>
              </a:spcAft>
              <a:buNone/>
            </a:pPr>
            <a:r>
              <a:rPr lang="it" sz="1600">
                <a:solidFill>
                  <a:schemeClr val="lt1"/>
                </a:solidFill>
              </a:rPr>
              <a:t>dbt Docs generated a searchable data catalog and full lineage graph, enabling traceability from final metrics back to raw sources</a:t>
            </a:r>
            <a:endParaRPr b="1">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38"/>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61" name="Google Shape;261;p38"/>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Why This Matters (Link to EDA)</a:t>
            </a:r>
            <a:endParaRPr/>
          </a:p>
        </p:txBody>
      </p:sp>
      <p:sp>
        <p:nvSpPr>
          <p:cNvPr id="262" name="Google Shape;262;p38"/>
          <p:cNvSpPr txBox="1"/>
          <p:nvPr>
            <p:ph idx="4294967295" type="body"/>
          </p:nvPr>
        </p:nvSpPr>
        <p:spPr>
          <a:xfrm>
            <a:off x="468825" y="1624925"/>
            <a:ext cx="4621200" cy="28899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Char char="●"/>
            </a:pPr>
            <a:r>
              <a:rPr lang="it" sz="1600">
                <a:solidFill>
                  <a:schemeClr val="lt1"/>
                </a:solidFill>
              </a:rPr>
              <a:t>Ensures exploratory findings are not driven by structural data errors</a:t>
            </a:r>
            <a:endParaRPr sz="1600">
              <a:solidFill>
                <a:schemeClr val="lt1"/>
              </a:solidFill>
            </a:endParaRPr>
          </a:p>
          <a:p>
            <a:pPr indent="0" lvl="0" marL="457200" rtl="0" algn="l">
              <a:lnSpc>
                <a:spcPct val="100000"/>
              </a:lnSpc>
              <a:spcBef>
                <a:spcPts val="1000"/>
              </a:spcBef>
              <a:spcAft>
                <a:spcPts val="0"/>
              </a:spcAft>
              <a:buNone/>
            </a:pPr>
            <a:r>
              <a:t/>
            </a:r>
            <a:endParaRPr sz="1600">
              <a:solidFill>
                <a:schemeClr val="lt1"/>
              </a:solidFill>
            </a:endParaRPr>
          </a:p>
          <a:p>
            <a:pPr indent="-342900" lvl="0" marL="457200" rtl="0" algn="l">
              <a:lnSpc>
                <a:spcPct val="100000"/>
              </a:lnSpc>
              <a:spcBef>
                <a:spcPts val="1000"/>
              </a:spcBef>
              <a:spcAft>
                <a:spcPts val="0"/>
              </a:spcAft>
              <a:buClr>
                <a:schemeClr val="lt1"/>
              </a:buClr>
              <a:buSzPts val="1800"/>
              <a:buChar char="●"/>
            </a:pPr>
            <a:r>
              <a:rPr lang="it" sz="1600">
                <a:solidFill>
                  <a:schemeClr val="lt1"/>
                </a:solidFill>
              </a:rPr>
              <a:t>Converts subjective validation into formal, repeatable guarantees</a:t>
            </a:r>
            <a:endParaRPr sz="1600">
              <a:solidFill>
                <a:schemeClr val="lt1"/>
              </a:solidFill>
            </a:endParaRPr>
          </a:p>
          <a:p>
            <a:pPr indent="0" lvl="0" marL="457200" rtl="0" algn="l">
              <a:lnSpc>
                <a:spcPct val="100000"/>
              </a:lnSpc>
              <a:spcBef>
                <a:spcPts val="1000"/>
              </a:spcBef>
              <a:spcAft>
                <a:spcPts val="0"/>
              </a:spcAft>
              <a:buNone/>
            </a:pPr>
            <a:r>
              <a:t/>
            </a:r>
            <a:endParaRPr sz="1600">
              <a:solidFill>
                <a:schemeClr val="lt1"/>
              </a:solidFill>
            </a:endParaRPr>
          </a:p>
          <a:p>
            <a:pPr indent="-342900" lvl="0" marL="457200" rtl="0" algn="l">
              <a:lnSpc>
                <a:spcPct val="100000"/>
              </a:lnSpc>
              <a:spcBef>
                <a:spcPts val="1000"/>
              </a:spcBef>
              <a:spcAft>
                <a:spcPts val="0"/>
              </a:spcAft>
              <a:buClr>
                <a:schemeClr val="lt1"/>
              </a:buClr>
              <a:buSzPts val="1800"/>
              <a:buChar char="●"/>
            </a:pPr>
            <a:r>
              <a:rPr lang="it" sz="1600">
                <a:solidFill>
                  <a:schemeClr val="lt1"/>
                </a:solidFill>
              </a:rPr>
              <a:t>Makes analytical conclusions auditable and reproducible</a:t>
            </a:r>
            <a:endParaRPr b="1">
              <a:solidFill>
                <a:schemeClr val="lt1"/>
              </a:solidFill>
            </a:endParaRPr>
          </a:p>
          <a:p>
            <a:pPr indent="0" lvl="0" marL="0" rtl="0" algn="l">
              <a:lnSpc>
                <a:spcPct val="100000"/>
              </a:lnSpc>
              <a:spcBef>
                <a:spcPts val="1000"/>
              </a:spcBef>
              <a:spcAft>
                <a:spcPts val="0"/>
              </a:spcAft>
              <a:buNone/>
            </a:pPr>
            <a:r>
              <a:t/>
            </a:r>
            <a:endParaRPr b="1">
              <a:solidFill>
                <a:schemeClr val="lt1"/>
              </a:solidFill>
            </a:endParaRPr>
          </a:p>
          <a:p>
            <a:pPr indent="0" lvl="0" marL="0" rtl="0" algn="l">
              <a:lnSpc>
                <a:spcPct val="100000"/>
              </a:lnSpc>
              <a:spcBef>
                <a:spcPts val="1000"/>
              </a:spcBef>
              <a:spcAft>
                <a:spcPts val="0"/>
              </a:spcAft>
              <a:buNone/>
            </a:pPr>
            <a:r>
              <a:t/>
            </a:r>
            <a:endParaRPr b="1">
              <a:solidFill>
                <a:schemeClr val="lt1"/>
              </a:solidFill>
            </a:endParaRPr>
          </a:p>
          <a:p>
            <a:pPr indent="0" lvl="0" marL="0" rtl="0" algn="l">
              <a:lnSpc>
                <a:spcPct val="100000"/>
              </a:lnSpc>
              <a:spcBef>
                <a:spcPts val="1000"/>
              </a:spcBef>
              <a:spcAft>
                <a:spcPts val="0"/>
              </a:spcAft>
              <a:buNone/>
            </a:pPr>
            <a:r>
              <a:t/>
            </a:r>
            <a:endParaRPr b="1">
              <a:solidFill>
                <a:schemeClr val="lt1"/>
              </a:solidFill>
            </a:endParaRPr>
          </a:p>
          <a:p>
            <a:pPr indent="0" lvl="0" marL="0" rtl="0" algn="l">
              <a:lnSpc>
                <a:spcPct val="100000"/>
              </a:lnSpc>
              <a:spcBef>
                <a:spcPts val="1000"/>
              </a:spcBef>
              <a:spcAft>
                <a:spcPts val="1000"/>
              </a:spcAft>
              <a:buNone/>
            </a:pPr>
            <a:r>
              <a:t/>
            </a:r>
            <a:endParaRPr b="1">
              <a:solidFill>
                <a:schemeClr val="lt1"/>
              </a:solidFill>
            </a:endParaRPr>
          </a:p>
        </p:txBody>
      </p:sp>
      <p:pic>
        <p:nvPicPr>
          <p:cNvPr id="263" name="Google Shape;263;p38"/>
          <p:cNvPicPr preferRelativeResize="0"/>
          <p:nvPr/>
        </p:nvPicPr>
        <p:blipFill>
          <a:blip r:embed="rId3">
            <a:alphaModFix/>
          </a:blip>
          <a:stretch>
            <a:fillRect/>
          </a:stretch>
        </p:blipFill>
        <p:spPr>
          <a:xfrm>
            <a:off x="5519075" y="1155350"/>
            <a:ext cx="3276600" cy="3829050"/>
          </a:xfrm>
          <a:prstGeom prst="rect">
            <a:avLst/>
          </a:prstGeom>
          <a:noFill/>
          <a:ln>
            <a:noFill/>
          </a:ln>
        </p:spPr>
      </p:pic>
      <p:sp>
        <p:nvSpPr>
          <p:cNvPr id="264" name="Google Shape;264;p38"/>
          <p:cNvSpPr txBox="1"/>
          <p:nvPr/>
        </p:nvSpPr>
        <p:spPr>
          <a:xfrm>
            <a:off x="4813425" y="1381350"/>
            <a:ext cx="3000000" cy="3000000"/>
          </a:xfrm>
          <a:prstGeom prst="rect">
            <a:avLst/>
          </a:prstGeom>
          <a:noFill/>
          <a:ln>
            <a:noFill/>
          </a:ln>
        </p:spPr>
        <p:txBody>
          <a:bodyPr anchorCtr="0" anchor="ctr" bIns="91425" lIns="91425" spcFirstLastPara="1" rIns="91425" wrap="square" tIns="91425">
            <a:noAutofit/>
          </a:bodyPr>
          <a:lstStyle/>
          <a:p>
            <a:pPr indent="0" lvl="0" marL="101600" marR="10160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9"/>
          <p:cNvSpPr txBox="1"/>
          <p:nvPr>
            <p:ph type="title"/>
          </p:nvPr>
        </p:nvSpPr>
        <p:spPr>
          <a:xfrm>
            <a:off x="6896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Exploratory Data Analysis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0"/>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WHAT HAS BEEN PERFORMED</a:t>
            </a:r>
            <a:endParaRPr/>
          </a:p>
        </p:txBody>
      </p:sp>
      <p:sp>
        <p:nvSpPr>
          <p:cNvPr id="275" name="Google Shape;275;p40"/>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b="1" lang="it"/>
              <a:t>Pipeline Verification:</a:t>
            </a:r>
            <a:r>
              <a:rPr lang="it"/>
              <a:t> Confirmed analytical table integrity.</a:t>
            </a:r>
            <a:endParaRPr/>
          </a:p>
          <a:p>
            <a:pPr indent="-342900" lvl="0" marL="457200" rtl="0" algn="l">
              <a:lnSpc>
                <a:spcPct val="100000"/>
              </a:lnSpc>
              <a:spcBef>
                <a:spcPts val="1000"/>
              </a:spcBef>
              <a:spcAft>
                <a:spcPts val="0"/>
              </a:spcAft>
              <a:buSzPts val="1800"/>
              <a:buChar char="●"/>
            </a:pPr>
            <a:r>
              <a:rPr b="1" lang="it"/>
              <a:t>Feature Logic: </a:t>
            </a:r>
            <a:r>
              <a:rPr lang="it"/>
              <a:t>Verified agronomic and economic plausibility.</a:t>
            </a:r>
            <a:endParaRPr/>
          </a:p>
          <a:p>
            <a:pPr indent="-342900" lvl="0" marL="457200" rtl="0" algn="l">
              <a:lnSpc>
                <a:spcPct val="100000"/>
              </a:lnSpc>
              <a:spcBef>
                <a:spcPts val="1000"/>
              </a:spcBef>
              <a:spcAft>
                <a:spcPts val="0"/>
              </a:spcAft>
              <a:buSzPts val="1800"/>
              <a:buChar char="●"/>
            </a:pPr>
            <a:r>
              <a:rPr b="1" lang="it"/>
              <a:t>Anomaly Detection:</a:t>
            </a:r>
            <a:r>
              <a:rPr lang="it"/>
              <a:t> Flagged key outliers (e.g., 1988, 2012).</a:t>
            </a:r>
            <a:endParaRPr/>
          </a:p>
          <a:p>
            <a:pPr indent="-342900" lvl="0" marL="457200" rtl="0" algn="l">
              <a:lnSpc>
                <a:spcPct val="100000"/>
              </a:lnSpc>
              <a:spcBef>
                <a:spcPts val="1000"/>
              </a:spcBef>
              <a:spcAft>
                <a:spcPts val="1000"/>
              </a:spcAft>
              <a:buSzPts val="1800"/>
              <a:buChar char="●"/>
            </a:pPr>
            <a:r>
              <a:rPr b="1" lang="it"/>
              <a:t>Temporal Analysis:</a:t>
            </a:r>
            <a:r>
              <a:rPr lang="it"/>
              <a:t> Assessed trends and time-series effects.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pic>
        <p:nvPicPr>
          <p:cNvPr id="280" name="Google Shape;280;p41"/>
          <p:cNvPicPr preferRelativeResize="0"/>
          <p:nvPr/>
        </p:nvPicPr>
        <p:blipFill>
          <a:blip r:embed="rId3">
            <a:alphaModFix/>
          </a:blip>
          <a:stretch>
            <a:fillRect/>
          </a:stretch>
        </p:blipFill>
        <p:spPr>
          <a:xfrm>
            <a:off x="152400" y="1357900"/>
            <a:ext cx="8839201" cy="3461890"/>
          </a:xfrm>
          <a:prstGeom prst="rect">
            <a:avLst/>
          </a:prstGeom>
          <a:noFill/>
          <a:ln>
            <a:noFill/>
          </a:ln>
        </p:spPr>
      </p:pic>
      <p:sp>
        <p:nvSpPr>
          <p:cNvPr id="281" name="Google Shape;281;p41"/>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82" name="Google Shape;282;p41"/>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Final Dataset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42"/>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88" name="Google Shape;288;p42"/>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Initial Inspection</a:t>
            </a:r>
            <a:endParaRPr/>
          </a:p>
        </p:txBody>
      </p:sp>
      <p:pic>
        <p:nvPicPr>
          <p:cNvPr id="289" name="Google Shape;289;p42"/>
          <p:cNvPicPr preferRelativeResize="0"/>
          <p:nvPr/>
        </p:nvPicPr>
        <p:blipFill>
          <a:blip r:embed="rId3">
            <a:alphaModFix/>
          </a:blip>
          <a:stretch>
            <a:fillRect/>
          </a:stretch>
        </p:blipFill>
        <p:spPr>
          <a:xfrm>
            <a:off x="326550" y="1197100"/>
            <a:ext cx="1985853" cy="3780600"/>
          </a:xfrm>
          <a:prstGeom prst="rect">
            <a:avLst/>
          </a:prstGeom>
          <a:noFill/>
          <a:ln>
            <a:noFill/>
          </a:ln>
        </p:spPr>
      </p:pic>
      <p:pic>
        <p:nvPicPr>
          <p:cNvPr id="290" name="Google Shape;290;p42"/>
          <p:cNvPicPr preferRelativeResize="0"/>
          <p:nvPr/>
        </p:nvPicPr>
        <p:blipFill>
          <a:blip r:embed="rId4">
            <a:alphaModFix/>
          </a:blip>
          <a:stretch>
            <a:fillRect/>
          </a:stretch>
        </p:blipFill>
        <p:spPr>
          <a:xfrm>
            <a:off x="6603700" y="113400"/>
            <a:ext cx="1185874" cy="1185874"/>
          </a:xfrm>
          <a:prstGeom prst="rect">
            <a:avLst/>
          </a:prstGeom>
          <a:noFill/>
          <a:ln>
            <a:noFill/>
          </a:ln>
        </p:spPr>
      </p:pic>
      <p:pic>
        <p:nvPicPr>
          <p:cNvPr id="291" name="Google Shape;291;p42"/>
          <p:cNvPicPr preferRelativeResize="0"/>
          <p:nvPr/>
        </p:nvPicPr>
        <p:blipFill>
          <a:blip r:embed="rId5">
            <a:alphaModFix/>
          </a:blip>
          <a:stretch>
            <a:fillRect/>
          </a:stretch>
        </p:blipFill>
        <p:spPr>
          <a:xfrm>
            <a:off x="2679116" y="2821411"/>
            <a:ext cx="2657475" cy="438150"/>
          </a:xfrm>
          <a:prstGeom prst="rect">
            <a:avLst/>
          </a:prstGeom>
          <a:noFill/>
          <a:ln>
            <a:noFill/>
          </a:ln>
        </p:spPr>
      </p:pic>
      <p:pic>
        <p:nvPicPr>
          <p:cNvPr id="292" name="Google Shape;292;p42"/>
          <p:cNvPicPr preferRelativeResize="0"/>
          <p:nvPr/>
        </p:nvPicPr>
        <p:blipFill>
          <a:blip r:embed="rId6">
            <a:alphaModFix/>
          </a:blip>
          <a:stretch>
            <a:fillRect/>
          </a:stretch>
        </p:blipFill>
        <p:spPr>
          <a:xfrm>
            <a:off x="5703303" y="1451674"/>
            <a:ext cx="3288297" cy="317763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43"/>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98" name="Google Shape;298;p43"/>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External Validation</a:t>
            </a:r>
            <a:endParaRPr/>
          </a:p>
        </p:txBody>
      </p:sp>
      <p:pic>
        <p:nvPicPr>
          <p:cNvPr id="299" name="Google Shape;299;p43"/>
          <p:cNvPicPr preferRelativeResize="0"/>
          <p:nvPr/>
        </p:nvPicPr>
        <p:blipFill>
          <a:blip r:embed="rId3">
            <a:alphaModFix/>
          </a:blip>
          <a:stretch>
            <a:fillRect/>
          </a:stretch>
        </p:blipFill>
        <p:spPr>
          <a:xfrm>
            <a:off x="696838" y="1274663"/>
            <a:ext cx="7750375" cy="1720575"/>
          </a:xfrm>
          <a:prstGeom prst="rect">
            <a:avLst/>
          </a:prstGeom>
          <a:noFill/>
          <a:ln>
            <a:noFill/>
          </a:ln>
        </p:spPr>
      </p:pic>
      <p:pic>
        <p:nvPicPr>
          <p:cNvPr id="300" name="Google Shape;300;p43"/>
          <p:cNvPicPr preferRelativeResize="0"/>
          <p:nvPr/>
        </p:nvPicPr>
        <p:blipFill>
          <a:blip r:embed="rId4">
            <a:alphaModFix/>
          </a:blip>
          <a:stretch>
            <a:fillRect/>
          </a:stretch>
        </p:blipFill>
        <p:spPr>
          <a:xfrm>
            <a:off x="696838" y="2995225"/>
            <a:ext cx="7589650" cy="18805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44"/>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06" name="Google Shape;306;p44"/>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Statistical Profiling</a:t>
            </a:r>
            <a:endParaRPr/>
          </a:p>
        </p:txBody>
      </p:sp>
      <p:pic>
        <p:nvPicPr>
          <p:cNvPr id="307" name="Google Shape;307;p44"/>
          <p:cNvPicPr preferRelativeResize="0"/>
          <p:nvPr/>
        </p:nvPicPr>
        <p:blipFill>
          <a:blip r:embed="rId3">
            <a:alphaModFix/>
          </a:blip>
          <a:stretch>
            <a:fillRect/>
          </a:stretch>
        </p:blipFill>
        <p:spPr>
          <a:xfrm>
            <a:off x="152400" y="1210500"/>
            <a:ext cx="5113500" cy="2044375"/>
          </a:xfrm>
          <a:prstGeom prst="rect">
            <a:avLst/>
          </a:prstGeom>
          <a:noFill/>
          <a:ln>
            <a:noFill/>
          </a:ln>
        </p:spPr>
      </p:pic>
      <p:pic>
        <p:nvPicPr>
          <p:cNvPr id="308" name="Google Shape;308;p44"/>
          <p:cNvPicPr preferRelativeResize="0"/>
          <p:nvPr/>
        </p:nvPicPr>
        <p:blipFill>
          <a:blip r:embed="rId4">
            <a:alphaModFix/>
          </a:blip>
          <a:stretch>
            <a:fillRect/>
          </a:stretch>
        </p:blipFill>
        <p:spPr>
          <a:xfrm>
            <a:off x="4147650" y="3113469"/>
            <a:ext cx="4696425" cy="1877631"/>
          </a:xfrm>
          <a:prstGeom prst="rect">
            <a:avLst/>
          </a:prstGeom>
          <a:noFill/>
          <a:ln>
            <a:noFill/>
          </a:ln>
        </p:spPr>
      </p:pic>
      <p:sp>
        <p:nvSpPr>
          <p:cNvPr id="309" name="Google Shape;309;p44"/>
          <p:cNvSpPr txBox="1"/>
          <p:nvPr/>
        </p:nvSpPr>
        <p:spPr>
          <a:xfrm>
            <a:off x="5371200" y="1379625"/>
            <a:ext cx="4272900" cy="100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it" sz="2100">
                <a:solidFill>
                  <a:schemeClr val="lt1"/>
                </a:solidFill>
                <a:latin typeface="Average"/>
                <a:ea typeface="Average"/>
                <a:cs typeface="Average"/>
                <a:sym typeface="Average"/>
              </a:rPr>
              <a:t>Price</a:t>
            </a:r>
            <a:endParaRPr b="1" sz="2100">
              <a:solidFill>
                <a:schemeClr val="lt1"/>
              </a:solidFill>
              <a:latin typeface="Average"/>
              <a:ea typeface="Average"/>
              <a:cs typeface="Average"/>
              <a:sym typeface="Average"/>
            </a:endParaRPr>
          </a:p>
          <a:p>
            <a:pPr indent="0" lvl="0" marL="0" rtl="0" algn="l">
              <a:lnSpc>
                <a:spcPct val="115000"/>
              </a:lnSpc>
              <a:spcBef>
                <a:spcPts val="1600"/>
              </a:spcBef>
              <a:spcAft>
                <a:spcPts val="1600"/>
              </a:spcAft>
              <a:buNone/>
            </a:pPr>
            <a:r>
              <a:rPr lang="it" sz="1600">
                <a:solidFill>
                  <a:schemeClr val="lt1"/>
                </a:solidFill>
                <a:latin typeface="Average"/>
                <a:ea typeface="Average"/>
                <a:cs typeface="Average"/>
                <a:sym typeface="Average"/>
              </a:rPr>
              <a:t>Log-transformed to correct right-skew</a:t>
            </a:r>
            <a:endParaRPr sz="1600">
              <a:solidFill>
                <a:schemeClr val="lt1"/>
              </a:solidFill>
              <a:latin typeface="Average"/>
              <a:ea typeface="Average"/>
              <a:cs typeface="Average"/>
              <a:sym typeface="Average"/>
            </a:endParaRPr>
          </a:p>
        </p:txBody>
      </p:sp>
      <p:sp>
        <p:nvSpPr>
          <p:cNvPr id="310" name="Google Shape;310;p44"/>
          <p:cNvSpPr txBox="1"/>
          <p:nvPr/>
        </p:nvSpPr>
        <p:spPr>
          <a:xfrm>
            <a:off x="956075" y="3520675"/>
            <a:ext cx="3000000" cy="12912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b="1" lang="it" sz="2100">
                <a:solidFill>
                  <a:schemeClr val="lt1"/>
                </a:solidFill>
                <a:latin typeface="Average"/>
                <a:ea typeface="Average"/>
                <a:cs typeface="Average"/>
                <a:sym typeface="Average"/>
              </a:rPr>
              <a:t>Outliers</a:t>
            </a:r>
            <a:endParaRPr b="1" sz="2100">
              <a:solidFill>
                <a:schemeClr val="lt1"/>
              </a:solidFill>
              <a:latin typeface="Average"/>
              <a:ea typeface="Average"/>
              <a:cs typeface="Average"/>
              <a:sym typeface="Average"/>
            </a:endParaRPr>
          </a:p>
          <a:p>
            <a:pPr indent="0" lvl="0" marL="0" rtl="0" algn="r">
              <a:lnSpc>
                <a:spcPct val="115000"/>
              </a:lnSpc>
              <a:spcBef>
                <a:spcPts val="1600"/>
              </a:spcBef>
              <a:spcAft>
                <a:spcPts val="1600"/>
              </a:spcAft>
              <a:buNone/>
            </a:pPr>
            <a:r>
              <a:rPr lang="it" sz="1600">
                <a:solidFill>
                  <a:schemeClr val="lt1"/>
                </a:solidFill>
                <a:latin typeface="Average"/>
                <a:ea typeface="Average"/>
                <a:cs typeface="Average"/>
                <a:sym typeface="Average"/>
              </a:rPr>
              <a:t>Retained as valid market/climate signals (not noise)</a:t>
            </a:r>
            <a:endParaRPr sz="1600">
              <a:solidFill>
                <a:schemeClr val="lt1"/>
              </a:solidFill>
              <a:latin typeface="Average"/>
              <a:ea typeface="Average"/>
              <a:cs typeface="Average"/>
              <a:sym typeface="Averag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45"/>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16" name="Google Shape;316;p45"/>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Trends &amp; Stationarity</a:t>
            </a:r>
            <a:endParaRPr/>
          </a:p>
        </p:txBody>
      </p:sp>
      <p:pic>
        <p:nvPicPr>
          <p:cNvPr id="317" name="Google Shape;317;p45"/>
          <p:cNvPicPr preferRelativeResize="0"/>
          <p:nvPr/>
        </p:nvPicPr>
        <p:blipFill>
          <a:blip r:embed="rId3">
            <a:alphaModFix/>
          </a:blip>
          <a:stretch>
            <a:fillRect/>
          </a:stretch>
        </p:blipFill>
        <p:spPr>
          <a:xfrm>
            <a:off x="134250" y="1265325"/>
            <a:ext cx="6016350" cy="2378000"/>
          </a:xfrm>
          <a:prstGeom prst="rect">
            <a:avLst/>
          </a:prstGeom>
          <a:noFill/>
          <a:ln>
            <a:noFill/>
          </a:ln>
        </p:spPr>
      </p:pic>
      <p:pic>
        <p:nvPicPr>
          <p:cNvPr id="318" name="Google Shape;318;p45"/>
          <p:cNvPicPr preferRelativeResize="0"/>
          <p:nvPr/>
        </p:nvPicPr>
        <p:blipFill>
          <a:blip r:embed="rId4">
            <a:alphaModFix/>
          </a:blip>
          <a:stretch>
            <a:fillRect/>
          </a:stretch>
        </p:blipFill>
        <p:spPr>
          <a:xfrm>
            <a:off x="3487650" y="2797850"/>
            <a:ext cx="5433125" cy="2188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46"/>
          <p:cNvSpPr/>
          <p:nvPr/>
        </p:nvSpPr>
        <p:spPr>
          <a:xfrm>
            <a:off x="25" y="0"/>
            <a:ext cx="9144000" cy="105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24" name="Google Shape;324;p46"/>
          <p:cNvSpPr txBox="1"/>
          <p:nvPr/>
        </p:nvSpPr>
        <p:spPr>
          <a:xfrm>
            <a:off x="25" y="113400"/>
            <a:ext cx="9144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4200">
                <a:solidFill>
                  <a:schemeClr val="dk1"/>
                </a:solidFill>
                <a:latin typeface="Oswald"/>
                <a:ea typeface="Oswald"/>
                <a:cs typeface="Oswald"/>
                <a:sym typeface="Oswald"/>
              </a:rPr>
              <a:t>Relationships with Price</a:t>
            </a:r>
            <a:endParaRPr/>
          </a:p>
        </p:txBody>
      </p:sp>
      <p:pic>
        <p:nvPicPr>
          <p:cNvPr id="325" name="Google Shape;325;p46"/>
          <p:cNvPicPr preferRelativeResize="0"/>
          <p:nvPr/>
        </p:nvPicPr>
        <p:blipFill>
          <a:blip r:embed="rId3">
            <a:alphaModFix/>
          </a:blip>
          <a:stretch>
            <a:fillRect/>
          </a:stretch>
        </p:blipFill>
        <p:spPr>
          <a:xfrm>
            <a:off x="185913" y="1694338"/>
            <a:ext cx="2874775" cy="2263825"/>
          </a:xfrm>
          <a:prstGeom prst="rect">
            <a:avLst/>
          </a:prstGeom>
          <a:noFill/>
          <a:ln>
            <a:noFill/>
          </a:ln>
        </p:spPr>
      </p:pic>
      <p:pic>
        <p:nvPicPr>
          <p:cNvPr id="326" name="Google Shape;326;p46"/>
          <p:cNvPicPr preferRelativeResize="0"/>
          <p:nvPr/>
        </p:nvPicPr>
        <p:blipFill>
          <a:blip r:embed="rId4">
            <a:alphaModFix/>
          </a:blip>
          <a:stretch>
            <a:fillRect/>
          </a:stretch>
        </p:blipFill>
        <p:spPr>
          <a:xfrm>
            <a:off x="3293437" y="1766050"/>
            <a:ext cx="2745875" cy="2120400"/>
          </a:xfrm>
          <a:prstGeom prst="rect">
            <a:avLst/>
          </a:prstGeom>
          <a:noFill/>
          <a:ln>
            <a:noFill/>
          </a:ln>
        </p:spPr>
      </p:pic>
      <p:pic>
        <p:nvPicPr>
          <p:cNvPr id="327" name="Google Shape;327;p46"/>
          <p:cNvPicPr preferRelativeResize="0"/>
          <p:nvPr/>
        </p:nvPicPr>
        <p:blipFill>
          <a:blip r:embed="rId5">
            <a:alphaModFix/>
          </a:blip>
          <a:stretch>
            <a:fillRect/>
          </a:stretch>
        </p:blipFill>
        <p:spPr>
          <a:xfrm>
            <a:off x="6191712" y="1763838"/>
            <a:ext cx="2766425" cy="2178503"/>
          </a:xfrm>
          <a:prstGeom prst="rect">
            <a:avLst/>
          </a:prstGeom>
          <a:noFill/>
          <a:ln>
            <a:noFill/>
          </a:ln>
        </p:spPr>
      </p:pic>
      <p:sp>
        <p:nvSpPr>
          <p:cNvPr id="328" name="Google Shape;328;p46"/>
          <p:cNvSpPr txBox="1"/>
          <p:nvPr/>
        </p:nvSpPr>
        <p:spPr>
          <a:xfrm>
            <a:off x="185925" y="3958150"/>
            <a:ext cx="27459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b="1" lang="it" sz="2100">
                <a:solidFill>
                  <a:schemeClr val="lt1"/>
                </a:solidFill>
                <a:latin typeface="Average"/>
                <a:ea typeface="Average"/>
                <a:cs typeface="Average"/>
                <a:sym typeface="Average"/>
              </a:rPr>
              <a:t>Crop Condition</a:t>
            </a:r>
            <a:endParaRPr sz="1600">
              <a:solidFill>
                <a:schemeClr val="lt1"/>
              </a:solidFill>
              <a:latin typeface="Average"/>
              <a:ea typeface="Average"/>
              <a:cs typeface="Average"/>
              <a:sym typeface="Average"/>
            </a:endParaRPr>
          </a:p>
        </p:txBody>
      </p:sp>
      <p:sp>
        <p:nvSpPr>
          <p:cNvPr id="329" name="Google Shape;329;p46"/>
          <p:cNvSpPr txBox="1"/>
          <p:nvPr/>
        </p:nvSpPr>
        <p:spPr>
          <a:xfrm>
            <a:off x="3293425" y="3958150"/>
            <a:ext cx="26403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b="1" lang="it" sz="2100">
                <a:solidFill>
                  <a:schemeClr val="lt1"/>
                </a:solidFill>
                <a:latin typeface="Average"/>
                <a:ea typeface="Average"/>
                <a:cs typeface="Average"/>
                <a:sym typeface="Average"/>
              </a:rPr>
              <a:t>Stock-to-use</a:t>
            </a:r>
            <a:endParaRPr sz="1600">
              <a:solidFill>
                <a:schemeClr val="lt1"/>
              </a:solidFill>
              <a:latin typeface="Average"/>
              <a:ea typeface="Average"/>
              <a:cs typeface="Average"/>
              <a:sym typeface="Average"/>
            </a:endParaRPr>
          </a:p>
        </p:txBody>
      </p:sp>
      <p:sp>
        <p:nvSpPr>
          <p:cNvPr id="330" name="Google Shape;330;p46"/>
          <p:cNvSpPr txBox="1"/>
          <p:nvPr/>
        </p:nvSpPr>
        <p:spPr>
          <a:xfrm>
            <a:off x="6302013" y="3958150"/>
            <a:ext cx="25458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b="1" lang="it" sz="2100">
                <a:solidFill>
                  <a:schemeClr val="lt1"/>
                </a:solidFill>
                <a:latin typeface="Average"/>
                <a:ea typeface="Average"/>
                <a:cs typeface="Average"/>
                <a:sym typeface="Average"/>
              </a:rPr>
              <a:t>Heat Stress</a:t>
            </a:r>
            <a:endParaRPr sz="1600">
              <a:solidFill>
                <a:schemeClr val="lt1"/>
              </a:solidFill>
              <a:latin typeface="Average"/>
              <a:ea typeface="Average"/>
              <a:cs typeface="Average"/>
              <a:sym typeface="Averag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7"/>
          <p:cNvSpPr txBox="1"/>
          <p:nvPr>
            <p:ph type="title"/>
          </p:nvPr>
        </p:nvSpPr>
        <p:spPr>
          <a:xfrm>
            <a:off x="490250" y="526350"/>
            <a:ext cx="8144100" cy="81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it" sz="3600"/>
              <a:t>Future work / Improvements</a:t>
            </a:r>
            <a:endParaRPr sz="3600"/>
          </a:p>
        </p:txBody>
      </p:sp>
      <p:sp>
        <p:nvSpPr>
          <p:cNvPr id="336" name="Google Shape;336;p47"/>
          <p:cNvSpPr txBox="1"/>
          <p:nvPr/>
        </p:nvSpPr>
        <p:spPr>
          <a:xfrm>
            <a:off x="490250" y="1562925"/>
            <a:ext cx="7930200" cy="12930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lt1"/>
              </a:buClr>
              <a:buSzPts val="2400"/>
              <a:buFont typeface="Oswald"/>
              <a:buChar char="●"/>
            </a:pPr>
            <a:r>
              <a:rPr b="1" lang="it" sz="2400">
                <a:solidFill>
                  <a:schemeClr val="lt1"/>
                </a:solidFill>
                <a:latin typeface="Oswald"/>
                <a:ea typeface="Oswald"/>
                <a:cs typeface="Oswald"/>
                <a:sym typeface="Oswald"/>
              </a:rPr>
              <a:t>Dashboard Integration</a:t>
            </a:r>
            <a:endParaRPr b="1" sz="2400">
              <a:solidFill>
                <a:schemeClr val="lt1"/>
              </a:solidFill>
              <a:latin typeface="Oswald"/>
              <a:ea typeface="Oswald"/>
              <a:cs typeface="Oswald"/>
              <a:sym typeface="Oswald"/>
            </a:endParaRPr>
          </a:p>
          <a:p>
            <a:pPr indent="-381000" lvl="0" marL="457200" rtl="0" algn="l">
              <a:spcBef>
                <a:spcPts val="0"/>
              </a:spcBef>
              <a:spcAft>
                <a:spcPts val="0"/>
              </a:spcAft>
              <a:buClr>
                <a:schemeClr val="lt1"/>
              </a:buClr>
              <a:buSzPts val="2400"/>
              <a:buFont typeface="Oswald"/>
              <a:buChar char="●"/>
            </a:pPr>
            <a:r>
              <a:rPr b="1" lang="it" sz="2400">
                <a:solidFill>
                  <a:schemeClr val="lt1"/>
                </a:solidFill>
                <a:latin typeface="Oswald"/>
                <a:ea typeface="Oswald"/>
                <a:cs typeface="Oswald"/>
                <a:sym typeface="Oswald"/>
              </a:rPr>
              <a:t>Containerization</a:t>
            </a:r>
            <a:endParaRPr b="1" sz="2400">
              <a:solidFill>
                <a:schemeClr val="lt1"/>
              </a:solidFill>
              <a:latin typeface="Oswald"/>
              <a:ea typeface="Oswald"/>
              <a:cs typeface="Oswald"/>
              <a:sym typeface="Oswald"/>
            </a:endParaRPr>
          </a:p>
          <a:p>
            <a:pPr indent="-381000" lvl="0" marL="457200" rtl="0" algn="l">
              <a:spcBef>
                <a:spcPts val="0"/>
              </a:spcBef>
              <a:spcAft>
                <a:spcPts val="0"/>
              </a:spcAft>
              <a:buClr>
                <a:schemeClr val="lt1"/>
              </a:buClr>
              <a:buSzPts val="2400"/>
              <a:buFont typeface="Oswald"/>
              <a:buChar char="●"/>
            </a:pPr>
            <a:r>
              <a:rPr b="1" lang="it" sz="2400">
                <a:solidFill>
                  <a:schemeClr val="lt1"/>
                </a:solidFill>
                <a:latin typeface="Oswald"/>
                <a:ea typeface="Oswald"/>
                <a:cs typeface="Oswald"/>
                <a:sym typeface="Oswald"/>
              </a:rPr>
              <a:t>CI/CD</a:t>
            </a:r>
            <a:endParaRPr b="1" sz="2400">
              <a:solidFill>
                <a:schemeClr val="lt1"/>
              </a:solidFill>
              <a:latin typeface="Oswald"/>
              <a:ea typeface="Oswald"/>
              <a:cs typeface="Oswald"/>
              <a:sym typeface="Oswa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8"/>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sz="5200"/>
              <a:t>Thanks for your attention!</a:t>
            </a:r>
            <a:endParaRPr sz="5200"/>
          </a:p>
        </p:txBody>
      </p:sp>
      <p:sp>
        <p:nvSpPr>
          <p:cNvPr id="342" name="Google Shape;342;p48"/>
          <p:cNvSpPr txBox="1"/>
          <p:nvPr/>
        </p:nvSpPr>
        <p:spPr>
          <a:xfrm>
            <a:off x="1150800" y="3002250"/>
            <a:ext cx="6893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solidFill>
                  <a:schemeClr val="lt2"/>
                </a:solidFill>
                <a:latin typeface="Oswald"/>
                <a:ea typeface="Oswald"/>
                <a:cs typeface="Oswald"/>
                <a:sym typeface="Oswald"/>
              </a:rPr>
              <a:t>Supplementary materials and data repository </a:t>
            </a:r>
            <a:r>
              <a:rPr lang="it" sz="1800" u="sng">
                <a:solidFill>
                  <a:schemeClr val="hlink"/>
                </a:solidFill>
                <a:latin typeface="Oswald"/>
                <a:ea typeface="Oswald"/>
                <a:cs typeface="Oswald"/>
                <a:sym typeface="Oswald"/>
                <a:hlinkClick r:id="rId3"/>
              </a:rPr>
              <a:t>here</a:t>
            </a:r>
            <a:endParaRPr sz="1800">
              <a:solidFill>
                <a:schemeClr val="lt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